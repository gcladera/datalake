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6744D80-2161-4FDD-A29A-E1F08ACCDF9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E898CDE-7936-4ECD-B284-42DEC6C4B57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F3B5B58-9B6E-4908-BC1B-4C3BA51746A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71C95D65-7A59-4E4C-9038-3D717B828B2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DBA015B2-C0E4-48C0-8A62-DAD634A45F4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C0C6B2CE-42E6-42C8-8426-E9B91E0F39A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84AA1E85-C8B7-4322-8738-60DDF9FFB6E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5D547DEF-27EA-4628-A190-389DB0F29B9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600A095E-E8D6-42B7-AD5D-E949918E218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08AA1A58-4AC3-4308-8182-43799E14550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C029A2DD-6CF8-4DC9-B248-E89DBDED04A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D3A311C-1397-4375-9938-760E376C651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D04C483-1743-4863-B8A5-21EB336CD54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A05BCA7-12D8-4B9E-8271-CBBF33E36BB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5413489-E3C4-498C-B1DF-9CFFF73AD0B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5833583-391C-4613-B9EE-D8ED3AF68AB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CF70407-810B-4AC5-8B93-7A4EFC30D14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AFB0DAA-DB02-45AB-BC80-2940AB96AE3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E70C6AE-0ACE-47C1-A335-4BBC218CF40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EA576C7-1F8B-4FD7-976B-91D49AE093F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5DECF73-373F-491F-A8B2-C8BDA3E9B0F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FDF3AAD-C8F2-4A01-A15D-C7B31264678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1"/>
          <p:cNvSpPr/>
          <p:nvPr/>
        </p:nvSpPr>
        <p:spPr>
          <a:xfrm>
            <a:off x="0" y="0"/>
            <a:ext cx="12190680" cy="10872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" name="Rectangle 2"/>
          <p:cNvSpPr/>
          <p:nvPr/>
        </p:nvSpPr>
        <p:spPr>
          <a:xfrm>
            <a:off x="0" y="6784920"/>
            <a:ext cx="12190680" cy="7200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" name="Rectangle 3"/>
          <p:cNvSpPr/>
          <p:nvPr/>
        </p:nvSpPr>
        <p:spPr>
          <a:xfrm>
            <a:off x="0" y="0"/>
            <a:ext cx="456120" cy="685692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3" name="TextBox 4"/>
          <p:cNvSpPr/>
          <p:nvPr/>
        </p:nvSpPr>
        <p:spPr>
          <a:xfrm>
            <a:off x="914400" y="1371600"/>
            <a:ext cx="10057320" cy="12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800" spc="-1" strike="noStrike">
                <a:solidFill>
                  <a:srgbClr val="333333"/>
                </a:solidFill>
                <a:latin typeface="Calibri"/>
              </a:rPr>
              <a:t>Data Lakehouse Analític per </a:t>
            </a:r>
            <a:endParaRPr b="0" lang="es-ES" sz="3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3800" spc="-1" strike="noStrike">
                <a:solidFill>
                  <a:srgbClr val="333333"/>
                </a:solidFill>
                <a:latin typeface="Calibri"/>
              </a:rPr>
              <a:t>a Dades Obertes</a:t>
            </a:r>
            <a:endParaRPr b="0" lang="es-E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Box 5"/>
          <p:cNvSpPr/>
          <p:nvPr/>
        </p:nvSpPr>
        <p:spPr>
          <a:xfrm>
            <a:off x="878400" y="3358080"/>
            <a:ext cx="10057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ff9900"/>
                </a:solidFill>
                <a:latin typeface="Calibri"/>
              </a:rPr>
              <a:t>Infraestructura Serverless al Núvol amb AWS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Box 7"/>
          <p:cNvSpPr/>
          <p:nvPr/>
        </p:nvSpPr>
        <p:spPr>
          <a:xfrm>
            <a:off x="4856040" y="5943600"/>
            <a:ext cx="21693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300" spc="-1" strike="noStrike">
                <a:solidFill>
                  <a:srgbClr val="666666"/>
                </a:solidFill>
                <a:latin typeface="Calibri"/>
              </a:rPr>
              <a:t>TFG — Enginyeria de dades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Box 1"/>
          <p:cNvSpPr/>
          <p:nvPr/>
        </p:nvSpPr>
        <p:spPr>
          <a:xfrm>
            <a:off x="939600" y="4572000"/>
            <a:ext cx="54846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666666"/>
                </a:solidFill>
                <a:latin typeface="Calibri"/>
              </a:rPr>
              <a:t>Autor: Grau Cladera Sensat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Box 25"/>
          <p:cNvSpPr/>
          <p:nvPr/>
        </p:nvSpPr>
        <p:spPr>
          <a:xfrm>
            <a:off x="939600" y="4937760"/>
            <a:ext cx="54846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666666"/>
                </a:solidFill>
                <a:latin typeface="Calibri"/>
              </a:rPr>
              <a:t>Tutor: Esteve Alquézar Mora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Box 26"/>
          <p:cNvSpPr/>
          <p:nvPr/>
        </p:nvSpPr>
        <p:spPr>
          <a:xfrm>
            <a:off x="939600" y="5303520"/>
            <a:ext cx="54846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Grau en Enginyeria de Dades · Curs 2025-2026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1"/>
          <p:cNvSpPr/>
          <p:nvPr/>
        </p:nvSpPr>
        <p:spPr>
          <a:xfrm>
            <a:off x="0" y="0"/>
            <a:ext cx="12190680" cy="13608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0" name="Rectangle 2"/>
          <p:cNvSpPr/>
          <p:nvPr/>
        </p:nvSpPr>
        <p:spPr>
          <a:xfrm>
            <a:off x="0" y="0"/>
            <a:ext cx="53640" cy="685692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1" name="Rectangle 3"/>
          <p:cNvSpPr/>
          <p:nvPr/>
        </p:nvSpPr>
        <p:spPr>
          <a:xfrm>
            <a:off x="0" y="6784920"/>
            <a:ext cx="12190680" cy="7200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2" name="TextBox 4"/>
          <p:cNvSpPr/>
          <p:nvPr/>
        </p:nvSpPr>
        <p:spPr>
          <a:xfrm>
            <a:off x="731520" y="365760"/>
            <a:ext cx="106974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333333"/>
                </a:solidFill>
                <a:latin typeface="Calibri"/>
              </a:rPr>
              <a:t>El Problema i l'Estat de l'Art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Box 6"/>
          <p:cNvSpPr/>
          <p:nvPr/>
        </p:nvSpPr>
        <p:spPr>
          <a:xfrm>
            <a:off x="5257080" y="1280160"/>
            <a:ext cx="17377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333333"/>
                </a:solidFill>
                <a:latin typeface="Calibri"/>
              </a:rPr>
              <a:t>Fonaments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Rounded Rectangle 7"/>
          <p:cNvSpPr/>
          <p:nvPr/>
        </p:nvSpPr>
        <p:spPr>
          <a:xfrm>
            <a:off x="731520" y="2286000"/>
            <a:ext cx="5028120" cy="201060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270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5" name="Rectangle 8"/>
          <p:cNvSpPr/>
          <p:nvPr/>
        </p:nvSpPr>
        <p:spPr>
          <a:xfrm>
            <a:off x="731520" y="2286000"/>
            <a:ext cx="5028120" cy="5364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6" name="TextBox 9"/>
          <p:cNvSpPr/>
          <p:nvPr/>
        </p:nvSpPr>
        <p:spPr>
          <a:xfrm>
            <a:off x="868680" y="2468880"/>
            <a:ext cx="47538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333333"/>
                </a:solidFill>
                <a:latin typeface="Calibri"/>
              </a:rPr>
              <a:t>Infraestructura On-Premise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Box 10"/>
          <p:cNvSpPr/>
          <p:nvPr/>
        </p:nvSpPr>
        <p:spPr>
          <a:xfrm>
            <a:off x="868680" y="2926080"/>
            <a:ext cx="475380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Costos CapEx elevats</a:t>
            </a:r>
            <a:br>
              <a:rPr sz="1200"/>
            </a:b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Escalabilitat rígida i lenta</a:t>
            </a:r>
            <a:br>
              <a:rPr sz="1200"/>
            </a:b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Manteniment continu</a:t>
            </a:r>
            <a:br>
              <a:rPr sz="1200"/>
            </a:b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Alt cost d'oportunitat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Rounded Rectangle 11"/>
          <p:cNvSpPr/>
          <p:nvPr/>
        </p:nvSpPr>
        <p:spPr>
          <a:xfrm>
            <a:off x="6217920" y="2286000"/>
            <a:ext cx="5028120" cy="201060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270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" name="Rectangle 12"/>
          <p:cNvSpPr/>
          <p:nvPr/>
        </p:nvSpPr>
        <p:spPr>
          <a:xfrm>
            <a:off x="6217920" y="2286000"/>
            <a:ext cx="5028120" cy="5364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" name="TextBox 13"/>
          <p:cNvSpPr/>
          <p:nvPr/>
        </p:nvSpPr>
        <p:spPr>
          <a:xfrm>
            <a:off x="6355080" y="2468880"/>
            <a:ext cx="47538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333333"/>
                </a:solidFill>
                <a:latin typeface="Calibri"/>
              </a:rPr>
              <a:t>Data Lakehouse (Híbrid)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Box 14"/>
          <p:cNvSpPr/>
          <p:nvPr/>
        </p:nvSpPr>
        <p:spPr>
          <a:xfrm>
            <a:off x="6355080" y="2926080"/>
            <a:ext cx="475380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Flexibilitat del Data Lake</a:t>
            </a:r>
            <a:br>
              <a:rPr sz="1200"/>
            </a:b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Estructura del Warehouse</a:t>
            </a:r>
            <a:br>
              <a:rPr sz="1200"/>
            </a:b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Governança unificada</a:t>
            </a:r>
            <a:br>
              <a:rPr sz="1200"/>
            </a:b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Model FinOps: paga per ús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Box 15"/>
          <p:cNvSpPr/>
          <p:nvPr/>
        </p:nvSpPr>
        <p:spPr>
          <a:xfrm>
            <a:off x="731520" y="4754880"/>
            <a:ext cx="1069740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9900"/>
                </a:solidFill>
                <a:latin typeface="Calibri"/>
              </a:rPr>
              <a:t>▸  </a:t>
            </a:r>
            <a:r>
              <a:rPr b="1" lang="en-US" sz="1600" spc="-1" strike="noStrike">
                <a:solidFill>
                  <a:srgbClr val="ff9900"/>
                </a:solidFill>
                <a:latin typeface="Calibri"/>
              </a:rPr>
              <a:t>El repte: Crear una arquitectura Data LakeHouse capaç de treballar amb dades no estructurades (xarxes socials) I amb dades estructurades (mercat financer)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1"/>
          <p:cNvSpPr/>
          <p:nvPr/>
        </p:nvSpPr>
        <p:spPr>
          <a:xfrm>
            <a:off x="0" y="0"/>
            <a:ext cx="12190680" cy="13608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4" name="Rectangle 2"/>
          <p:cNvSpPr/>
          <p:nvPr/>
        </p:nvSpPr>
        <p:spPr>
          <a:xfrm>
            <a:off x="0" y="0"/>
            <a:ext cx="53640" cy="685692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" name="Rectangle 3"/>
          <p:cNvSpPr/>
          <p:nvPr/>
        </p:nvSpPr>
        <p:spPr>
          <a:xfrm>
            <a:off x="0" y="6784920"/>
            <a:ext cx="12190680" cy="7200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" name="TextBox 4"/>
          <p:cNvSpPr/>
          <p:nvPr/>
        </p:nvSpPr>
        <p:spPr>
          <a:xfrm>
            <a:off x="731520" y="365760"/>
            <a:ext cx="106974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333333"/>
                </a:solidFill>
                <a:latin typeface="Calibri"/>
              </a:rPr>
              <a:t>Stack Tecnològic i Objectius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Rounded Rectangle 5"/>
          <p:cNvSpPr/>
          <p:nvPr/>
        </p:nvSpPr>
        <p:spPr>
          <a:xfrm>
            <a:off x="457200" y="4381920"/>
            <a:ext cx="2559240" cy="182772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270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" name="Rectangle 6"/>
          <p:cNvSpPr/>
          <p:nvPr/>
        </p:nvSpPr>
        <p:spPr>
          <a:xfrm>
            <a:off x="457200" y="4381920"/>
            <a:ext cx="2559240" cy="5364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" name="TextBox 7"/>
          <p:cNvSpPr/>
          <p:nvPr/>
        </p:nvSpPr>
        <p:spPr>
          <a:xfrm>
            <a:off x="594360" y="4564800"/>
            <a:ext cx="22849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333333"/>
                </a:solidFill>
                <a:latin typeface="Calibri"/>
              </a:rPr>
              <a:t>AWS Serverless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Box 8"/>
          <p:cNvSpPr/>
          <p:nvPr/>
        </p:nvSpPr>
        <p:spPr>
          <a:xfrm>
            <a:off x="594360" y="5022000"/>
            <a:ext cx="228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Lambda, Glue, Athena, S3,</a:t>
            </a:r>
            <a:br>
              <a:rPr sz="1200"/>
            </a:b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Step Functions, EFS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Rounded Rectangle 9"/>
          <p:cNvSpPr/>
          <p:nvPr/>
        </p:nvSpPr>
        <p:spPr>
          <a:xfrm>
            <a:off x="3291840" y="4381920"/>
            <a:ext cx="2559240" cy="182772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270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" name="Rectangle 10"/>
          <p:cNvSpPr/>
          <p:nvPr/>
        </p:nvSpPr>
        <p:spPr>
          <a:xfrm>
            <a:off x="3291840" y="4381920"/>
            <a:ext cx="2559240" cy="5364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3" name="TextBox 11"/>
          <p:cNvSpPr/>
          <p:nvPr/>
        </p:nvSpPr>
        <p:spPr>
          <a:xfrm>
            <a:off x="3429000" y="4564800"/>
            <a:ext cx="22849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333333"/>
                </a:solidFill>
                <a:latin typeface="Calibri"/>
              </a:rPr>
              <a:t>Terraform (IaC)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Box 12"/>
          <p:cNvSpPr/>
          <p:nvPr/>
        </p:nvSpPr>
        <p:spPr>
          <a:xfrm>
            <a:off x="3429000" y="5022000"/>
            <a:ext cx="228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Infraestructura com a Codi</a:t>
            </a:r>
            <a:br>
              <a:rPr sz="1200"/>
            </a:b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Versionable i reproducible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Rounded Rectangle 13"/>
          <p:cNvSpPr/>
          <p:nvPr/>
        </p:nvSpPr>
        <p:spPr>
          <a:xfrm>
            <a:off x="6126480" y="4381920"/>
            <a:ext cx="2559240" cy="182772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270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6" name="Rectangle 14"/>
          <p:cNvSpPr/>
          <p:nvPr/>
        </p:nvSpPr>
        <p:spPr>
          <a:xfrm>
            <a:off x="6126480" y="4381920"/>
            <a:ext cx="2559240" cy="5364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7" name="TextBox 15"/>
          <p:cNvSpPr/>
          <p:nvPr/>
        </p:nvSpPr>
        <p:spPr>
          <a:xfrm>
            <a:off x="6263640" y="4564800"/>
            <a:ext cx="22849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333333"/>
                </a:solidFill>
                <a:latin typeface="Calibri"/>
              </a:rPr>
              <a:t>PySpark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Box 16"/>
          <p:cNvSpPr/>
          <p:nvPr/>
        </p:nvSpPr>
        <p:spPr>
          <a:xfrm>
            <a:off x="6263640" y="5022000"/>
            <a:ext cx="228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Processament distribuït</a:t>
            </a:r>
            <a:br>
              <a:rPr sz="1200"/>
            </a:b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Parquet, mapPartitions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Rounded Rectangle 17"/>
          <p:cNvSpPr/>
          <p:nvPr/>
        </p:nvSpPr>
        <p:spPr>
          <a:xfrm>
            <a:off x="8961120" y="4381920"/>
            <a:ext cx="2559240" cy="182772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270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0" name="Rectangle 18"/>
          <p:cNvSpPr/>
          <p:nvPr/>
        </p:nvSpPr>
        <p:spPr>
          <a:xfrm>
            <a:off x="8961120" y="4381920"/>
            <a:ext cx="2559240" cy="5364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1" name="TextBox 19"/>
          <p:cNvSpPr/>
          <p:nvPr/>
        </p:nvSpPr>
        <p:spPr>
          <a:xfrm>
            <a:off x="9098280" y="4492800"/>
            <a:ext cx="228492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333333"/>
                </a:solidFill>
                <a:latin typeface="Calibri"/>
              </a:rPr>
              <a:t>Amazon Comprehend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Box 20"/>
          <p:cNvSpPr/>
          <p:nvPr/>
        </p:nvSpPr>
        <p:spPr>
          <a:xfrm>
            <a:off x="9098280" y="5022000"/>
            <a:ext cx="228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NLP al núvol</a:t>
            </a:r>
            <a:br>
              <a:rPr sz="1200"/>
            </a:b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Anàlisi de sentiment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Box 21"/>
          <p:cNvSpPr/>
          <p:nvPr/>
        </p:nvSpPr>
        <p:spPr>
          <a:xfrm>
            <a:off x="4470480" y="1159920"/>
            <a:ext cx="32191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333333"/>
                </a:solidFill>
                <a:latin typeface="Calibri"/>
              </a:rPr>
              <a:t>Objectius del Projecte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Box 22"/>
          <p:cNvSpPr/>
          <p:nvPr/>
        </p:nvSpPr>
        <p:spPr>
          <a:xfrm>
            <a:off x="731520" y="1672560"/>
            <a:ext cx="10697400" cy="227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15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666666"/>
                </a:solidFill>
                <a:latin typeface="Calibri"/>
              </a:rPr>
              <a:t>Ingestió heterogènia: Dades textuals i numèriques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15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666666"/>
                </a:solidFill>
                <a:latin typeface="Calibri"/>
              </a:rPr>
              <a:t>Classificació dels posts mitjançant Natural Language Processing (NLP)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15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666666"/>
                </a:solidFill>
                <a:latin typeface="Calibri"/>
              </a:rPr>
              <a:t>Orquestració I automatització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15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666666"/>
                </a:solidFill>
                <a:latin typeface="Calibri"/>
              </a:rPr>
              <a:t>Seguretat Zero-Trust amb control granular (Lake Formation)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15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666666"/>
                </a:solidFill>
                <a:latin typeface="Calibri"/>
              </a:rPr>
              <a:t>Explotació Analítica I Visualització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15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666666"/>
                </a:solidFill>
                <a:latin typeface="Calibri"/>
              </a:rPr>
              <a:t>Infraestructura com a codi (IaC)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1"/>
          <p:cNvSpPr/>
          <p:nvPr/>
        </p:nvSpPr>
        <p:spPr>
          <a:xfrm>
            <a:off x="0" y="0"/>
            <a:ext cx="12190680" cy="13608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6" name="Rectangle 2"/>
          <p:cNvSpPr/>
          <p:nvPr/>
        </p:nvSpPr>
        <p:spPr>
          <a:xfrm>
            <a:off x="0" y="0"/>
            <a:ext cx="53640" cy="685692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7" name="Rectangle 3"/>
          <p:cNvSpPr/>
          <p:nvPr/>
        </p:nvSpPr>
        <p:spPr>
          <a:xfrm>
            <a:off x="0" y="6784920"/>
            <a:ext cx="12190680" cy="7200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8" name="TextBox 4"/>
          <p:cNvSpPr/>
          <p:nvPr/>
        </p:nvSpPr>
        <p:spPr>
          <a:xfrm>
            <a:off x="731520" y="365760"/>
            <a:ext cx="106974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333333"/>
                </a:solidFill>
                <a:latin typeface="Calibri"/>
              </a:rPr>
              <a:t>Arquitectura General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Rounded Rectangle 5"/>
          <p:cNvSpPr/>
          <p:nvPr/>
        </p:nvSpPr>
        <p:spPr>
          <a:xfrm>
            <a:off x="746640" y="2011680"/>
            <a:ext cx="1919160" cy="1827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1750"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0" name="TextBox 7"/>
          <p:cNvSpPr/>
          <p:nvPr/>
        </p:nvSpPr>
        <p:spPr>
          <a:xfrm>
            <a:off x="838080" y="2148840"/>
            <a:ext cx="17362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9900"/>
                </a:solidFill>
                <a:latin typeface="Calibri"/>
              </a:rPr>
              <a:t>Origen de Dades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Box 8"/>
          <p:cNvSpPr/>
          <p:nvPr/>
        </p:nvSpPr>
        <p:spPr>
          <a:xfrm>
            <a:off x="838080" y="2788920"/>
            <a:ext cx="173628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666666"/>
                </a:solidFill>
                <a:latin typeface="Calibri"/>
              </a:rPr>
              <a:t>Bluesky API</a:t>
            </a:r>
            <a:br>
              <a:rPr sz="1100"/>
            </a:br>
            <a:r>
              <a:rPr b="0" lang="en-US" sz="1100" spc="-1" strike="noStrike">
                <a:solidFill>
                  <a:srgbClr val="666666"/>
                </a:solidFill>
                <a:latin typeface="Calibri"/>
              </a:rPr>
              <a:t>CoinGecko API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Right Arrow 9"/>
          <p:cNvSpPr/>
          <p:nvPr/>
        </p:nvSpPr>
        <p:spPr>
          <a:xfrm>
            <a:off x="2712600" y="2788920"/>
            <a:ext cx="181800" cy="273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" name="Rounded Rectangle 10"/>
          <p:cNvSpPr/>
          <p:nvPr/>
        </p:nvSpPr>
        <p:spPr>
          <a:xfrm>
            <a:off x="2941200" y="2011680"/>
            <a:ext cx="1919160" cy="1827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1750"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" name="TextBox 12"/>
          <p:cNvSpPr/>
          <p:nvPr/>
        </p:nvSpPr>
        <p:spPr>
          <a:xfrm>
            <a:off x="3032640" y="2148840"/>
            <a:ext cx="17362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e87d00"/>
                </a:solidFill>
                <a:latin typeface="Calibri"/>
              </a:rPr>
              <a:t>Ingestió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Box 13"/>
          <p:cNvSpPr/>
          <p:nvPr/>
        </p:nvSpPr>
        <p:spPr>
          <a:xfrm>
            <a:off x="3032640" y="2788920"/>
            <a:ext cx="173628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666666"/>
                </a:solidFill>
                <a:latin typeface="Calibri"/>
              </a:rPr>
              <a:t>AWS Lambda</a:t>
            </a:r>
            <a:br>
              <a:rPr sz="1100"/>
            </a:br>
            <a:r>
              <a:rPr b="0" lang="en-US" sz="1100" spc="-1" strike="noStrike">
                <a:solidFill>
                  <a:srgbClr val="666666"/>
                </a:solidFill>
                <a:latin typeface="Calibri"/>
              </a:rPr>
              <a:t>Step Functions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Right Arrow 14"/>
          <p:cNvSpPr/>
          <p:nvPr/>
        </p:nvSpPr>
        <p:spPr>
          <a:xfrm>
            <a:off x="4907160" y="2788920"/>
            <a:ext cx="181800" cy="273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7" name="Rounded Rectangle 15"/>
          <p:cNvSpPr/>
          <p:nvPr/>
        </p:nvSpPr>
        <p:spPr>
          <a:xfrm>
            <a:off x="5135760" y="2011680"/>
            <a:ext cx="1919160" cy="1827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1750">
            <a:solidFill>
              <a:srgbClr val="33333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" name="TextBox 17"/>
          <p:cNvSpPr/>
          <p:nvPr/>
        </p:nvSpPr>
        <p:spPr>
          <a:xfrm>
            <a:off x="5227200" y="2148840"/>
            <a:ext cx="173628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e87d00"/>
                </a:solidFill>
                <a:latin typeface="Calibri"/>
              </a:rPr>
              <a:t>Emmagatzematge</a:t>
            </a:r>
            <a:br>
              <a:rPr sz="1300"/>
            </a:br>
            <a:r>
              <a:rPr b="1" lang="en-US" sz="1300" spc="-1" strike="noStrike">
                <a:solidFill>
                  <a:srgbClr val="e87d00"/>
                </a:solidFill>
                <a:latin typeface="Calibri"/>
              </a:rPr>
              <a:t>Lakehouse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Box 18"/>
          <p:cNvSpPr/>
          <p:nvPr/>
        </p:nvSpPr>
        <p:spPr>
          <a:xfrm>
            <a:off x="5227200" y="2788920"/>
            <a:ext cx="173628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666666"/>
                </a:solidFill>
                <a:latin typeface="Calibri"/>
              </a:rPr>
              <a:t>S3 + Lake Formation</a:t>
            </a:r>
            <a:br>
              <a:rPr sz="1100"/>
            </a:br>
            <a:r>
              <a:rPr b="0" lang="en-US" sz="1100" spc="-1" strike="noStrike">
                <a:solidFill>
                  <a:srgbClr val="666666"/>
                </a:solidFill>
                <a:latin typeface="Calibri"/>
              </a:rPr>
              <a:t>Bronze / Silver / Gold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Right Arrow 19"/>
          <p:cNvSpPr/>
          <p:nvPr/>
        </p:nvSpPr>
        <p:spPr>
          <a:xfrm>
            <a:off x="7101720" y="2788920"/>
            <a:ext cx="181800" cy="273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1" name="Rounded Rectangle 20"/>
          <p:cNvSpPr/>
          <p:nvPr/>
        </p:nvSpPr>
        <p:spPr>
          <a:xfrm>
            <a:off x="7330320" y="2011680"/>
            <a:ext cx="1919160" cy="1827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1750">
            <a:solidFill>
              <a:srgbClr val="11111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2" name="TextBox 22"/>
          <p:cNvSpPr/>
          <p:nvPr/>
        </p:nvSpPr>
        <p:spPr>
          <a:xfrm>
            <a:off x="7421760" y="2148840"/>
            <a:ext cx="17362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e87d00"/>
                </a:solidFill>
                <a:latin typeface="Calibri"/>
              </a:rPr>
              <a:t>Processament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Box 23"/>
          <p:cNvSpPr/>
          <p:nvPr/>
        </p:nvSpPr>
        <p:spPr>
          <a:xfrm>
            <a:off x="7421760" y="2788920"/>
            <a:ext cx="173628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666666"/>
                </a:solidFill>
                <a:latin typeface="Calibri"/>
              </a:rPr>
              <a:t>AWS Glue (PySpark)</a:t>
            </a:r>
            <a:br>
              <a:rPr sz="1100"/>
            </a:br>
            <a:r>
              <a:rPr b="0" lang="en-US" sz="1100" spc="-1" strike="noStrike">
                <a:solidFill>
                  <a:srgbClr val="666666"/>
                </a:solidFill>
                <a:latin typeface="Calibri"/>
              </a:rPr>
              <a:t>Amazon Comprehend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Right Arrow 24"/>
          <p:cNvSpPr/>
          <p:nvPr/>
        </p:nvSpPr>
        <p:spPr>
          <a:xfrm>
            <a:off x="9296280" y="2788920"/>
            <a:ext cx="181800" cy="273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5" name="Rounded Rectangle 25"/>
          <p:cNvSpPr/>
          <p:nvPr/>
        </p:nvSpPr>
        <p:spPr>
          <a:xfrm>
            <a:off x="9524880" y="2011680"/>
            <a:ext cx="1919160" cy="1827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1750"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6" name="TextBox 27"/>
          <p:cNvSpPr/>
          <p:nvPr/>
        </p:nvSpPr>
        <p:spPr>
          <a:xfrm>
            <a:off x="9616320" y="2148840"/>
            <a:ext cx="17362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e87d00"/>
                </a:solidFill>
                <a:latin typeface="Calibri"/>
              </a:rPr>
              <a:t>Visualització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Box 28"/>
          <p:cNvSpPr/>
          <p:nvPr/>
        </p:nvSpPr>
        <p:spPr>
          <a:xfrm>
            <a:off x="9616320" y="2788920"/>
            <a:ext cx="173628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666666"/>
                </a:solidFill>
                <a:latin typeface="Calibri"/>
              </a:rPr>
              <a:t>Grafana (ECS Fargate)</a:t>
            </a:r>
            <a:br>
              <a:rPr sz="1100"/>
            </a:br>
            <a:r>
              <a:rPr b="0" lang="en-US" sz="1100" spc="-1" strike="noStrike">
                <a:solidFill>
                  <a:srgbClr val="666666"/>
                </a:solidFill>
                <a:latin typeface="Calibri"/>
              </a:rPr>
              <a:t>Athena (SQL)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Box 29"/>
          <p:cNvSpPr/>
          <p:nvPr/>
        </p:nvSpPr>
        <p:spPr>
          <a:xfrm>
            <a:off x="731520" y="4572000"/>
            <a:ext cx="106974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9900"/>
                </a:solidFill>
                <a:latin typeface="Calibri"/>
              </a:rPr>
              <a:t>▸  </a:t>
            </a:r>
            <a:r>
              <a:rPr b="1" lang="en-US" sz="1600" spc="-1" strike="noStrike">
                <a:solidFill>
                  <a:srgbClr val="ff9900"/>
                </a:solidFill>
                <a:latin typeface="Calibri"/>
              </a:rPr>
              <a:t>Zero servidors. Còmput efímer. Quan no hi ha dades, el cost és pràcticament zero.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Box 30"/>
          <p:cNvSpPr/>
          <p:nvPr/>
        </p:nvSpPr>
        <p:spPr>
          <a:xfrm>
            <a:off x="731520" y="5120640"/>
            <a:ext cx="1069740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VPC amb subxarxes privades per al còmput | NAT Gateway per a sortida a APIs externes | Tot dins una xarxa aïllada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Controls de governança de dades (Lake Formation) I controls d’accés (IAM)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ounded Rectangle 1"/>
          <p:cNvSpPr/>
          <p:nvPr/>
        </p:nvSpPr>
        <p:spPr>
          <a:xfrm>
            <a:off x="3587040" y="1664280"/>
            <a:ext cx="2733120" cy="228492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270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1" name="Rectangle 1"/>
          <p:cNvSpPr/>
          <p:nvPr/>
        </p:nvSpPr>
        <p:spPr>
          <a:xfrm>
            <a:off x="0" y="0"/>
            <a:ext cx="12190680" cy="13608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2" name="Rectangle 2"/>
          <p:cNvSpPr/>
          <p:nvPr/>
        </p:nvSpPr>
        <p:spPr>
          <a:xfrm>
            <a:off x="0" y="0"/>
            <a:ext cx="53640" cy="685692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3" name="Rectangle 3"/>
          <p:cNvSpPr/>
          <p:nvPr/>
        </p:nvSpPr>
        <p:spPr>
          <a:xfrm>
            <a:off x="0" y="6784920"/>
            <a:ext cx="12190680" cy="7200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4" name="TextBox 4"/>
          <p:cNvSpPr/>
          <p:nvPr/>
        </p:nvSpPr>
        <p:spPr>
          <a:xfrm>
            <a:off x="731520" y="365760"/>
            <a:ext cx="106974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333333"/>
                </a:solidFill>
                <a:latin typeface="Calibri"/>
              </a:rPr>
              <a:t>Seguretat Zero-Trust i Governança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Rounded Rectangle 5"/>
          <p:cNvSpPr/>
          <p:nvPr/>
        </p:nvSpPr>
        <p:spPr>
          <a:xfrm>
            <a:off x="731520" y="1645920"/>
            <a:ext cx="2733120" cy="228492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270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6" name="Rectangle 6"/>
          <p:cNvSpPr/>
          <p:nvPr/>
        </p:nvSpPr>
        <p:spPr>
          <a:xfrm>
            <a:off x="731520" y="1645920"/>
            <a:ext cx="5588640" cy="4140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20" bIns="-25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7" name="TextBox 7"/>
          <p:cNvSpPr/>
          <p:nvPr/>
        </p:nvSpPr>
        <p:spPr>
          <a:xfrm>
            <a:off x="868680" y="1828800"/>
            <a:ext cx="23731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333333"/>
                </a:solidFill>
                <a:latin typeface="Calibri"/>
              </a:rPr>
              <a:t>AWS Lake Formation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Box 8"/>
          <p:cNvSpPr/>
          <p:nvPr/>
        </p:nvSpPr>
        <p:spPr>
          <a:xfrm>
            <a:off x="868680" y="2286000"/>
            <a:ext cx="259596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Permisos a nivell de columna i fila</a:t>
            </a:r>
            <a:br>
              <a:rPr sz="1200"/>
            </a:b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No només ACL de S3</a:t>
            </a:r>
            <a:br>
              <a:rPr sz="1200"/>
            </a:b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Control centralitzat de la dada</a:t>
            </a:r>
            <a:br>
              <a:rPr sz="1200"/>
            </a:b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Compliment RGPD automàtic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Rounded Rectangle 9"/>
          <p:cNvSpPr/>
          <p:nvPr/>
        </p:nvSpPr>
        <p:spPr>
          <a:xfrm>
            <a:off x="7761600" y="1645920"/>
            <a:ext cx="3484440" cy="228492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270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0" name="Rectangle 10"/>
          <p:cNvSpPr/>
          <p:nvPr/>
        </p:nvSpPr>
        <p:spPr>
          <a:xfrm>
            <a:off x="7761600" y="1645920"/>
            <a:ext cx="3484440" cy="5364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1" name="TextBox 11"/>
          <p:cNvSpPr/>
          <p:nvPr/>
        </p:nvSpPr>
        <p:spPr>
          <a:xfrm>
            <a:off x="8288640" y="1828800"/>
            <a:ext cx="28202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333333"/>
                </a:solidFill>
                <a:latin typeface="Calibri"/>
              </a:rPr>
              <a:t>Model Zero-Trust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Box 12"/>
          <p:cNvSpPr/>
          <p:nvPr/>
        </p:nvSpPr>
        <p:spPr>
          <a:xfrm>
            <a:off x="7893360" y="2286000"/>
            <a:ext cx="321552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Res no és confiable per defecte</a:t>
            </a:r>
            <a:br>
              <a:rPr sz="1200"/>
            </a:b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Cada accés és verificat</a:t>
            </a:r>
            <a:br>
              <a:rPr sz="1200"/>
            </a:b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Xifrat en repòs (S3 KMS) i trànsit (TLS)</a:t>
            </a:r>
            <a:br>
              <a:rPr sz="1200"/>
            </a:b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Mínim privilegi per a cada rol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Box 13"/>
          <p:cNvSpPr/>
          <p:nvPr/>
        </p:nvSpPr>
        <p:spPr>
          <a:xfrm>
            <a:off x="731520" y="4389120"/>
            <a:ext cx="106974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333333"/>
                </a:solidFill>
                <a:latin typeface="Calibri"/>
              </a:rPr>
              <a:t>Cas d'ús: Protecció de dades sensibles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Box 14"/>
          <p:cNvSpPr/>
          <p:nvPr/>
        </p:nvSpPr>
        <p:spPr>
          <a:xfrm>
            <a:off x="731520" y="4846320"/>
            <a:ext cx="10697400" cy="97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666666"/>
                </a:solidFill>
                <a:latin typeface="Calibri"/>
              </a:rPr>
              <a:t>Un usuari o recurs pot veure el sentiment i el preu, però NO l'author_handle (RGPD)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666666"/>
                </a:solidFill>
                <a:latin typeface="Calibri"/>
              </a:rPr>
              <a:t>Lake Formation filtra automàticament: SELECT sentiment, price FROM gold WHERE sentiment IS NOT NULL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666666"/>
                </a:solidFill>
                <a:latin typeface="Calibri"/>
              </a:rPr>
              <a:t>Sense canvis al codi del pipeline — la seguretat es defineix al catàleg de dades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Box 31"/>
          <p:cNvSpPr/>
          <p:nvPr/>
        </p:nvSpPr>
        <p:spPr>
          <a:xfrm>
            <a:off x="868680" y="1828800"/>
            <a:ext cx="23731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333333"/>
                </a:solidFill>
                <a:latin typeface="Calibri"/>
              </a:rPr>
              <a:t>AWS Lake Formation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Box 32"/>
          <p:cNvSpPr/>
          <p:nvPr/>
        </p:nvSpPr>
        <p:spPr>
          <a:xfrm>
            <a:off x="868680" y="1828800"/>
            <a:ext cx="23731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333333"/>
                </a:solidFill>
                <a:latin typeface="Calibri"/>
              </a:rPr>
              <a:t>AWS Lake Formation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Box 33"/>
          <p:cNvSpPr/>
          <p:nvPr/>
        </p:nvSpPr>
        <p:spPr>
          <a:xfrm>
            <a:off x="868680" y="1828800"/>
            <a:ext cx="23731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333333"/>
                </a:solidFill>
                <a:latin typeface="Calibri"/>
              </a:rPr>
              <a:t>AWS Lake Formation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Box 34"/>
          <p:cNvSpPr/>
          <p:nvPr/>
        </p:nvSpPr>
        <p:spPr>
          <a:xfrm>
            <a:off x="868680" y="1828800"/>
            <a:ext cx="23731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333333"/>
                </a:solidFill>
                <a:latin typeface="Calibri"/>
              </a:rPr>
              <a:t>AWS Lake Formation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Box 35"/>
          <p:cNvSpPr/>
          <p:nvPr/>
        </p:nvSpPr>
        <p:spPr>
          <a:xfrm>
            <a:off x="868680" y="1828800"/>
            <a:ext cx="23731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333333"/>
                </a:solidFill>
                <a:latin typeface="Calibri"/>
              </a:rPr>
              <a:t>AWS Lake Formation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Box 36"/>
          <p:cNvSpPr/>
          <p:nvPr/>
        </p:nvSpPr>
        <p:spPr>
          <a:xfrm>
            <a:off x="868680" y="1828800"/>
            <a:ext cx="23731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333333"/>
                </a:solidFill>
                <a:latin typeface="Calibri"/>
              </a:rPr>
              <a:t>AWS Lake Formation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Box 37"/>
          <p:cNvSpPr/>
          <p:nvPr/>
        </p:nvSpPr>
        <p:spPr>
          <a:xfrm>
            <a:off x="868680" y="1828800"/>
            <a:ext cx="23731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333333"/>
                </a:solidFill>
                <a:latin typeface="Calibri"/>
              </a:rPr>
              <a:t>AWS Lake Formation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3751200" y="1797120"/>
            <a:ext cx="226476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333333"/>
                </a:solidFill>
                <a:latin typeface="Calibri"/>
              </a:rPr>
              <a:t>IAM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3666960" y="2275560"/>
            <a:ext cx="2595600" cy="133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Control d’accés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Ús de polítiques, rols I usuaris per limitar els permissos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Gestionat segons el principi de </a:t>
            </a:r>
            <a:r>
              <a:rPr b="1" lang="en-US" sz="1200" spc="-1" strike="noStrike">
                <a:solidFill>
                  <a:srgbClr val="666666"/>
                </a:solidFill>
                <a:latin typeface="Calibri"/>
              </a:rPr>
              <a:t>Least Privilege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angle 1"/>
          <p:cNvSpPr/>
          <p:nvPr/>
        </p:nvSpPr>
        <p:spPr>
          <a:xfrm>
            <a:off x="0" y="0"/>
            <a:ext cx="12190680" cy="13608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5" name="Rectangle 2"/>
          <p:cNvSpPr/>
          <p:nvPr/>
        </p:nvSpPr>
        <p:spPr>
          <a:xfrm>
            <a:off x="0" y="0"/>
            <a:ext cx="53640" cy="685692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6" name="Rectangle 3"/>
          <p:cNvSpPr/>
          <p:nvPr/>
        </p:nvSpPr>
        <p:spPr>
          <a:xfrm>
            <a:off x="0" y="6784920"/>
            <a:ext cx="12190680" cy="7200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7" name="TextBox 4"/>
          <p:cNvSpPr/>
          <p:nvPr/>
        </p:nvSpPr>
        <p:spPr>
          <a:xfrm>
            <a:off x="731520" y="365760"/>
            <a:ext cx="106974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333333"/>
                </a:solidFill>
                <a:latin typeface="Calibri"/>
              </a:rPr>
              <a:t>L'Arquitectura de Medalló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Rounded Rectangle 5"/>
          <p:cNvSpPr/>
          <p:nvPr/>
        </p:nvSpPr>
        <p:spPr>
          <a:xfrm>
            <a:off x="548640" y="1828800"/>
            <a:ext cx="3290760" cy="3473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cd7f3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9" name="Rectangle 6"/>
          <p:cNvSpPr/>
          <p:nvPr/>
        </p:nvSpPr>
        <p:spPr>
          <a:xfrm>
            <a:off x="548640" y="1828800"/>
            <a:ext cx="3290760" cy="72000"/>
          </a:xfrm>
          <a:prstGeom prst="rect">
            <a:avLst/>
          </a:prstGeom>
          <a:solidFill>
            <a:srgbClr val="cd7f3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0" name="TextBox 7"/>
          <p:cNvSpPr/>
          <p:nvPr/>
        </p:nvSpPr>
        <p:spPr>
          <a:xfrm>
            <a:off x="731520" y="2011680"/>
            <a:ext cx="292500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cd7f32"/>
                </a:solidFill>
                <a:latin typeface="Calibri"/>
              </a:rPr>
              <a:t>Bronze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Box 8"/>
          <p:cNvSpPr/>
          <p:nvPr/>
        </p:nvSpPr>
        <p:spPr>
          <a:xfrm>
            <a:off x="731520" y="2468880"/>
            <a:ext cx="29250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666666"/>
                </a:solidFill>
                <a:latin typeface="Calibri"/>
              </a:rPr>
              <a:t>Dada Crua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Box 9"/>
          <p:cNvSpPr/>
          <p:nvPr/>
        </p:nvSpPr>
        <p:spPr>
          <a:xfrm>
            <a:off x="731520" y="2926080"/>
            <a:ext cx="292500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333333"/>
                </a:solidFill>
                <a:latin typeface="Calibri"/>
              </a:rPr>
              <a:t>CSV original d'API</a:t>
            </a:r>
            <a:br>
              <a:rPr sz="1300"/>
            </a:br>
            <a:r>
              <a:rPr b="0" lang="en-US" sz="1300" spc="-1" strike="noStrike">
                <a:solidFill>
                  <a:srgbClr val="333333"/>
                </a:solidFill>
                <a:latin typeface="Calibri"/>
              </a:rPr>
              <a:t>Sense transformacions</a:t>
            </a:r>
            <a:br>
              <a:rPr sz="1300"/>
            </a:b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Right Arrow 10"/>
          <p:cNvSpPr/>
          <p:nvPr/>
        </p:nvSpPr>
        <p:spPr>
          <a:xfrm>
            <a:off x="3886200" y="3383280"/>
            <a:ext cx="273240" cy="3189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4" name="Rounded Rectangle 11"/>
          <p:cNvSpPr/>
          <p:nvPr/>
        </p:nvSpPr>
        <p:spPr>
          <a:xfrm>
            <a:off x="4206240" y="1828800"/>
            <a:ext cx="3290760" cy="3473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6666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5" name="Rectangle 12"/>
          <p:cNvSpPr/>
          <p:nvPr/>
        </p:nvSpPr>
        <p:spPr>
          <a:xfrm>
            <a:off x="4206240" y="1828800"/>
            <a:ext cx="3290760" cy="72000"/>
          </a:xfrm>
          <a:prstGeom prst="rect">
            <a:avLst/>
          </a:prstGeom>
          <a:solidFill>
            <a:srgbClr val="6666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6" name="TextBox 13"/>
          <p:cNvSpPr/>
          <p:nvPr/>
        </p:nvSpPr>
        <p:spPr>
          <a:xfrm>
            <a:off x="4389120" y="2011680"/>
            <a:ext cx="292500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666666"/>
                </a:solidFill>
                <a:latin typeface="Calibri"/>
              </a:rPr>
              <a:t>Silver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Box 14"/>
          <p:cNvSpPr/>
          <p:nvPr/>
        </p:nvSpPr>
        <p:spPr>
          <a:xfrm>
            <a:off x="4389120" y="2468880"/>
            <a:ext cx="29250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666666"/>
                </a:solidFill>
                <a:latin typeface="Calibri"/>
              </a:rPr>
              <a:t>Neteja i Estandardització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Box 15"/>
          <p:cNvSpPr/>
          <p:nvPr/>
        </p:nvSpPr>
        <p:spPr>
          <a:xfrm>
            <a:off x="4389120" y="2926080"/>
            <a:ext cx="2925000" cy="8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333333"/>
                </a:solidFill>
                <a:latin typeface="Calibri"/>
              </a:rPr>
              <a:t>Deduplicació (MD5 hash)</a:t>
            </a:r>
            <a:br>
              <a:rPr sz="1300"/>
            </a:br>
            <a:r>
              <a:rPr b="0" lang="en-US" sz="1300" spc="-1" strike="noStrike">
                <a:solidFill>
                  <a:srgbClr val="333333"/>
                </a:solidFill>
                <a:latin typeface="Calibri"/>
              </a:rPr>
              <a:t>Conversió a Parquet</a:t>
            </a:r>
            <a:br>
              <a:rPr sz="1300"/>
            </a:br>
            <a:r>
              <a:rPr b="0" lang="en-US" sz="1300" spc="-1" strike="noStrike">
                <a:solidFill>
                  <a:srgbClr val="333333"/>
                </a:solidFill>
                <a:latin typeface="Calibri"/>
              </a:rPr>
              <a:t>Schema-on-Read</a:t>
            </a:r>
            <a:br>
              <a:rPr sz="1300"/>
            </a:br>
            <a:r>
              <a:rPr b="0" lang="en-US" sz="1300" spc="-1" strike="noStrike">
                <a:solidFill>
                  <a:srgbClr val="333333"/>
                </a:solidFill>
                <a:latin typeface="Calibri"/>
              </a:rPr>
              <a:t>Particionat per data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Right Arrow 16"/>
          <p:cNvSpPr/>
          <p:nvPr/>
        </p:nvSpPr>
        <p:spPr>
          <a:xfrm>
            <a:off x="7543800" y="3383280"/>
            <a:ext cx="273240" cy="3189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0" name="Rounded Rectangle 17"/>
          <p:cNvSpPr/>
          <p:nvPr/>
        </p:nvSpPr>
        <p:spPr>
          <a:xfrm>
            <a:off x="7863840" y="1828800"/>
            <a:ext cx="3290760" cy="3473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ff99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1" name="Rectangle 18"/>
          <p:cNvSpPr/>
          <p:nvPr/>
        </p:nvSpPr>
        <p:spPr>
          <a:xfrm>
            <a:off x="7863840" y="1828800"/>
            <a:ext cx="3290760" cy="7200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2" name="TextBox 19"/>
          <p:cNvSpPr/>
          <p:nvPr/>
        </p:nvSpPr>
        <p:spPr>
          <a:xfrm>
            <a:off x="8046720" y="2011680"/>
            <a:ext cx="292500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f9900"/>
                </a:solidFill>
                <a:latin typeface="Calibri"/>
              </a:rPr>
              <a:t>Gold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Box 20"/>
          <p:cNvSpPr/>
          <p:nvPr/>
        </p:nvSpPr>
        <p:spPr>
          <a:xfrm>
            <a:off x="8046720" y="2468880"/>
            <a:ext cx="29250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666666"/>
                </a:solidFill>
                <a:latin typeface="Calibri"/>
              </a:rPr>
              <a:t>Negoci i IA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Box 21"/>
          <p:cNvSpPr/>
          <p:nvPr/>
        </p:nvSpPr>
        <p:spPr>
          <a:xfrm>
            <a:off x="8046720" y="2926080"/>
            <a:ext cx="2925000" cy="8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333333"/>
                </a:solidFill>
                <a:latin typeface="Calibri"/>
              </a:rPr>
              <a:t>Sentiment (Comprehend)</a:t>
            </a:r>
            <a:br>
              <a:rPr sz="1300"/>
            </a:br>
            <a:r>
              <a:rPr b="0" lang="en-US" sz="1300" spc="-1" strike="noStrike">
                <a:solidFill>
                  <a:srgbClr val="333333"/>
                </a:solidFill>
                <a:latin typeface="Calibri"/>
              </a:rPr>
              <a:t>Mètriques derivades</a:t>
            </a:r>
            <a:br>
              <a:rPr sz="1300"/>
            </a:br>
            <a:r>
              <a:rPr b="0" lang="en-US" sz="1300" spc="-1" strike="noStrike">
                <a:solidFill>
                  <a:srgbClr val="333333"/>
                </a:solidFill>
                <a:latin typeface="Calibri"/>
              </a:rPr>
              <a:t>Model de grafs</a:t>
            </a:r>
            <a:br>
              <a:rPr sz="1300"/>
            </a:br>
            <a:r>
              <a:rPr b="0" lang="en-US" sz="1300" spc="-1" strike="noStrike">
                <a:solidFill>
                  <a:srgbClr val="333333"/>
                </a:solidFill>
                <a:latin typeface="Calibri"/>
              </a:rPr>
              <a:t>Preparat per a SQL/BI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Box 22"/>
          <p:cNvSpPr/>
          <p:nvPr/>
        </p:nvSpPr>
        <p:spPr>
          <a:xfrm>
            <a:off x="2313720" y="5669280"/>
            <a:ext cx="75358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ff9900"/>
                </a:solidFill>
                <a:latin typeface="Calibri"/>
              </a:rPr>
              <a:t>▸  </a:t>
            </a:r>
            <a:r>
              <a:rPr b="0" lang="en-US" sz="1500" spc="-1" strike="noStrike">
                <a:solidFill>
                  <a:srgbClr val="ff9900"/>
                </a:solidFill>
                <a:latin typeface="Calibri"/>
              </a:rPr>
              <a:t>Cada capa afegeix valor: Bronze = fidelitat  |  Silver = qualitat  |  Gold = significat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Rectangle 1"/>
          <p:cNvSpPr/>
          <p:nvPr/>
        </p:nvSpPr>
        <p:spPr>
          <a:xfrm>
            <a:off x="0" y="0"/>
            <a:ext cx="12190680" cy="13608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7" name="Rectangle 2"/>
          <p:cNvSpPr/>
          <p:nvPr/>
        </p:nvSpPr>
        <p:spPr>
          <a:xfrm>
            <a:off x="0" y="0"/>
            <a:ext cx="53640" cy="685692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8" name="Rectangle 3"/>
          <p:cNvSpPr/>
          <p:nvPr/>
        </p:nvSpPr>
        <p:spPr>
          <a:xfrm>
            <a:off x="0" y="6784920"/>
            <a:ext cx="12190680" cy="7200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9" name="TextBox 4"/>
          <p:cNvSpPr/>
          <p:nvPr/>
        </p:nvSpPr>
        <p:spPr>
          <a:xfrm>
            <a:off x="731520" y="365760"/>
            <a:ext cx="106974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333333"/>
                </a:solidFill>
                <a:latin typeface="Calibri"/>
              </a:rPr>
              <a:t>Ingestió i Deduplicació (Bronze → Silver)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Box 6"/>
          <p:cNvSpPr/>
          <p:nvPr/>
        </p:nvSpPr>
        <p:spPr>
          <a:xfrm>
            <a:off x="4805640" y="1280160"/>
            <a:ext cx="26402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333333"/>
                </a:solidFill>
                <a:latin typeface="Calibri"/>
              </a:rPr>
              <a:t>Pipeline de Dades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Rounded Rectangle 7"/>
          <p:cNvSpPr/>
          <p:nvPr/>
        </p:nvSpPr>
        <p:spPr>
          <a:xfrm>
            <a:off x="731520" y="2286000"/>
            <a:ext cx="5028120" cy="182772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270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2" name="Rectangle 8"/>
          <p:cNvSpPr/>
          <p:nvPr/>
        </p:nvSpPr>
        <p:spPr>
          <a:xfrm>
            <a:off x="731520" y="2286000"/>
            <a:ext cx="5028120" cy="5364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3" name="TextBox 9"/>
          <p:cNvSpPr/>
          <p:nvPr/>
        </p:nvSpPr>
        <p:spPr>
          <a:xfrm>
            <a:off x="868680" y="2468880"/>
            <a:ext cx="47538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333333"/>
                </a:solidFill>
                <a:latin typeface="Calibri"/>
              </a:rPr>
              <a:t>Repte: Dades Duplicades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Box 10"/>
          <p:cNvSpPr/>
          <p:nvPr/>
        </p:nvSpPr>
        <p:spPr>
          <a:xfrm>
            <a:off x="868680" y="2926080"/>
            <a:ext cx="47538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Bluesky retorna posts solapats entre peticions</a:t>
            </a:r>
            <a:br>
              <a:rPr sz="1200"/>
            </a:b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CoinGecko actualitza preus cada 60 segons</a:t>
            </a:r>
            <a:br>
              <a:rPr sz="1200"/>
            </a:b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Sense control, el pipeline insereix registres duplicats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Rounded Rectangle 11"/>
          <p:cNvSpPr/>
          <p:nvPr/>
        </p:nvSpPr>
        <p:spPr>
          <a:xfrm>
            <a:off x="6217920" y="2286000"/>
            <a:ext cx="5028120" cy="182772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270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6" name="Rectangle 12"/>
          <p:cNvSpPr/>
          <p:nvPr/>
        </p:nvSpPr>
        <p:spPr>
          <a:xfrm>
            <a:off x="6217920" y="2286000"/>
            <a:ext cx="5028120" cy="5364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7" name="TextBox 13"/>
          <p:cNvSpPr/>
          <p:nvPr/>
        </p:nvSpPr>
        <p:spPr>
          <a:xfrm>
            <a:off x="6355080" y="2468880"/>
            <a:ext cx="47538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333333"/>
                </a:solidFill>
                <a:latin typeface="Calibri"/>
              </a:rPr>
              <a:t>Solució: Hash MD5 Idempotent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Box 14"/>
          <p:cNvSpPr/>
          <p:nvPr/>
        </p:nvSpPr>
        <p:spPr>
          <a:xfrm>
            <a:off x="6355080" y="2926080"/>
            <a:ext cx="475380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Cada registre rep un hash MD5 (Posts: content, Crypto: valor + timestamp)</a:t>
            </a:r>
            <a:br>
              <a:rPr sz="1200"/>
            </a:br>
            <a:br>
              <a:rPr sz="1200"/>
            </a:b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Si el pipeline s'executa 2×, no hi ha duplicats</a:t>
            </a:r>
            <a:br>
              <a:rPr sz="1200"/>
            </a:b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Pipeline idempotent per definició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Box 15"/>
          <p:cNvSpPr/>
          <p:nvPr/>
        </p:nvSpPr>
        <p:spPr>
          <a:xfrm>
            <a:off x="731520" y="4572000"/>
            <a:ext cx="106974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333333"/>
                </a:solidFill>
                <a:latin typeface="Courier New"/>
              </a:rPr>
              <a:t>Exemple: hashlib.md5(f"{post_id}:{timestamp}".encode()).hexdigest() → deduplicació garantida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Rectangle 1"/>
          <p:cNvSpPr/>
          <p:nvPr/>
        </p:nvSpPr>
        <p:spPr>
          <a:xfrm>
            <a:off x="0" y="0"/>
            <a:ext cx="12190680" cy="13608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1" name="Rectangle 2"/>
          <p:cNvSpPr/>
          <p:nvPr/>
        </p:nvSpPr>
        <p:spPr>
          <a:xfrm>
            <a:off x="0" y="0"/>
            <a:ext cx="53640" cy="685692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2" name="Rectangle 3"/>
          <p:cNvSpPr/>
          <p:nvPr/>
        </p:nvSpPr>
        <p:spPr>
          <a:xfrm>
            <a:off x="0" y="6784920"/>
            <a:ext cx="12190680" cy="7200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3" name="TextBox 4"/>
          <p:cNvSpPr/>
          <p:nvPr/>
        </p:nvSpPr>
        <p:spPr>
          <a:xfrm>
            <a:off x="731520" y="365760"/>
            <a:ext cx="106974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333333"/>
                </a:solidFill>
                <a:latin typeface="Calibri"/>
              </a:rPr>
              <a:t>Processament Distribuït amb PySpark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Rounded Rectangle 5"/>
          <p:cNvSpPr/>
          <p:nvPr/>
        </p:nvSpPr>
        <p:spPr>
          <a:xfrm>
            <a:off x="731520" y="1645920"/>
            <a:ext cx="3473640" cy="201060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270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5" name="Rectangle 6"/>
          <p:cNvSpPr/>
          <p:nvPr/>
        </p:nvSpPr>
        <p:spPr>
          <a:xfrm>
            <a:off x="731520" y="1645920"/>
            <a:ext cx="3473640" cy="5364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6" name="TextBox 7"/>
          <p:cNvSpPr/>
          <p:nvPr/>
        </p:nvSpPr>
        <p:spPr>
          <a:xfrm>
            <a:off x="868680" y="1828800"/>
            <a:ext cx="31993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333333"/>
                </a:solidFill>
                <a:latin typeface="Calibri"/>
              </a:rPr>
              <a:t>CSV → Parquet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Box 8"/>
          <p:cNvSpPr/>
          <p:nvPr/>
        </p:nvSpPr>
        <p:spPr>
          <a:xfrm>
            <a:off x="868680" y="2286000"/>
            <a:ext cx="31993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Dades planes → columnars</a:t>
            </a:r>
            <a:br>
              <a:rPr sz="1200"/>
            </a:b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Compressió: 70% (80-90% teòrics)</a:t>
            </a:r>
            <a:br>
              <a:rPr sz="1200"/>
            </a:b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Emmagatzematge optimitzat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Rounded Rectangle 9"/>
          <p:cNvSpPr/>
          <p:nvPr/>
        </p:nvSpPr>
        <p:spPr>
          <a:xfrm>
            <a:off x="4572000" y="1645920"/>
            <a:ext cx="3473640" cy="201060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270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9" name="Rectangle 10"/>
          <p:cNvSpPr/>
          <p:nvPr/>
        </p:nvSpPr>
        <p:spPr>
          <a:xfrm>
            <a:off x="4572000" y="1645920"/>
            <a:ext cx="3473640" cy="5364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0" name="TextBox 11"/>
          <p:cNvSpPr/>
          <p:nvPr/>
        </p:nvSpPr>
        <p:spPr>
          <a:xfrm>
            <a:off x="4709160" y="1828800"/>
            <a:ext cx="31993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333333"/>
                </a:solidFill>
                <a:latin typeface="Calibri"/>
              </a:rPr>
              <a:t>Virtuts de Parquet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Box 12"/>
          <p:cNvSpPr/>
          <p:nvPr/>
        </p:nvSpPr>
        <p:spPr>
          <a:xfrm>
            <a:off x="4709160" y="2286000"/>
            <a:ext cx="319932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Schema-on-Read</a:t>
            </a:r>
            <a:br>
              <a:rPr sz="1200"/>
            </a:b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Emmagatzematge per columna</a:t>
            </a:r>
            <a:br>
              <a:rPr sz="1200"/>
            </a:b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Particionat per data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Resistent a canvis d’esquema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Rounded Rectangle 13"/>
          <p:cNvSpPr/>
          <p:nvPr/>
        </p:nvSpPr>
        <p:spPr>
          <a:xfrm>
            <a:off x="8412480" y="1645920"/>
            <a:ext cx="3016440" cy="201060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270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3" name="Rectangle 14"/>
          <p:cNvSpPr/>
          <p:nvPr/>
        </p:nvSpPr>
        <p:spPr>
          <a:xfrm>
            <a:off x="8412480" y="1645920"/>
            <a:ext cx="3016440" cy="5364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4" name="TextBox 15"/>
          <p:cNvSpPr/>
          <p:nvPr/>
        </p:nvSpPr>
        <p:spPr>
          <a:xfrm>
            <a:off x="8549640" y="1828800"/>
            <a:ext cx="27421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333333"/>
                </a:solidFill>
                <a:latin typeface="Calibri"/>
              </a:rPr>
              <a:t>Impacte en Costos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Box 16"/>
          <p:cNvSpPr/>
          <p:nvPr/>
        </p:nvSpPr>
        <p:spPr>
          <a:xfrm>
            <a:off x="8549640" y="2286000"/>
            <a:ext cx="2742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Athena: 70-90% menys cost</a:t>
            </a:r>
            <a:br>
              <a:rPr sz="1200"/>
            </a:b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Consultes 60% més ràpides</a:t>
            </a:r>
            <a:br>
              <a:rPr sz="1200"/>
            </a:b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Menys dades escanejades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Box 17"/>
          <p:cNvSpPr/>
          <p:nvPr/>
        </p:nvSpPr>
        <p:spPr>
          <a:xfrm>
            <a:off x="2210400" y="4114800"/>
            <a:ext cx="7739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333333"/>
                </a:solidFill>
                <a:latin typeface="Calibri"/>
              </a:rPr>
              <a:t>Arquitectura de fitxer Parquet: Row Group + Column Chunk + Page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Rounded Rectangle 18"/>
          <p:cNvSpPr/>
          <p:nvPr/>
        </p:nvSpPr>
        <p:spPr>
          <a:xfrm>
            <a:off x="914400" y="4663440"/>
            <a:ext cx="1370520" cy="456120"/>
          </a:xfrm>
          <a:prstGeom prst="roundRect">
            <a:avLst>
              <a:gd name="adj" fmla="val 16667"/>
            </a:avLst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Row Group 1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Rounded Rectangle 19"/>
          <p:cNvSpPr/>
          <p:nvPr/>
        </p:nvSpPr>
        <p:spPr>
          <a:xfrm>
            <a:off x="2560320" y="4663440"/>
            <a:ext cx="1370520" cy="45612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2700">
            <a:solidFill>
              <a:srgbClr val="6666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333333"/>
                </a:solidFill>
                <a:latin typeface="Calibri"/>
              </a:rPr>
              <a:t>Col A</a:t>
            </a:r>
            <a:br>
              <a:rPr sz="1000"/>
            </a:br>
            <a:r>
              <a:rPr b="0" lang="en-US" sz="1000" spc="-1" strike="noStrike">
                <a:solidFill>
                  <a:srgbClr val="333333"/>
                </a:solidFill>
                <a:latin typeface="Calibri"/>
              </a:rPr>
              <a:t>Chunk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Rounded Rectangle 20"/>
          <p:cNvSpPr/>
          <p:nvPr/>
        </p:nvSpPr>
        <p:spPr>
          <a:xfrm>
            <a:off x="4206240" y="4663440"/>
            <a:ext cx="1370520" cy="45612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2700">
            <a:solidFill>
              <a:srgbClr val="6666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333333"/>
                </a:solidFill>
                <a:latin typeface="Calibri"/>
              </a:rPr>
              <a:t>Col B</a:t>
            </a:r>
            <a:br>
              <a:rPr sz="1000"/>
            </a:br>
            <a:r>
              <a:rPr b="0" lang="en-US" sz="1000" spc="-1" strike="noStrike">
                <a:solidFill>
                  <a:srgbClr val="333333"/>
                </a:solidFill>
                <a:latin typeface="Calibri"/>
              </a:rPr>
              <a:t>Chunk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Rounded Rectangle 21"/>
          <p:cNvSpPr/>
          <p:nvPr/>
        </p:nvSpPr>
        <p:spPr>
          <a:xfrm>
            <a:off x="5852160" y="4663440"/>
            <a:ext cx="1370520" cy="45612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2700">
            <a:solidFill>
              <a:srgbClr val="6666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333333"/>
                </a:solidFill>
                <a:latin typeface="Calibri"/>
              </a:rPr>
              <a:t>Col C</a:t>
            </a:r>
            <a:br>
              <a:rPr sz="1000"/>
            </a:br>
            <a:r>
              <a:rPr b="0" lang="en-US" sz="1000" spc="-1" strike="noStrike">
                <a:solidFill>
                  <a:srgbClr val="333333"/>
                </a:solidFill>
                <a:latin typeface="Calibri"/>
              </a:rPr>
              <a:t>Chunk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Rounded Rectangle 22"/>
          <p:cNvSpPr/>
          <p:nvPr/>
        </p:nvSpPr>
        <p:spPr>
          <a:xfrm>
            <a:off x="914400" y="5212080"/>
            <a:ext cx="1370520" cy="456120"/>
          </a:xfrm>
          <a:prstGeom prst="roundRect">
            <a:avLst>
              <a:gd name="adj" fmla="val 16667"/>
            </a:avLst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Row Group 2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Rounded Rectangle 23"/>
          <p:cNvSpPr/>
          <p:nvPr/>
        </p:nvSpPr>
        <p:spPr>
          <a:xfrm>
            <a:off x="2560320" y="5212080"/>
            <a:ext cx="1370520" cy="45612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2700">
            <a:solidFill>
              <a:srgbClr val="6666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333333"/>
                </a:solidFill>
                <a:latin typeface="Calibri"/>
              </a:rPr>
              <a:t>Col A</a:t>
            </a:r>
            <a:br>
              <a:rPr sz="1000"/>
            </a:br>
            <a:r>
              <a:rPr b="0" lang="en-US" sz="1000" spc="-1" strike="noStrike">
                <a:solidFill>
                  <a:srgbClr val="333333"/>
                </a:solidFill>
                <a:latin typeface="Calibri"/>
              </a:rPr>
              <a:t>Chunk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Rounded Rectangle 24"/>
          <p:cNvSpPr/>
          <p:nvPr/>
        </p:nvSpPr>
        <p:spPr>
          <a:xfrm>
            <a:off x="4206240" y="5212080"/>
            <a:ext cx="1370520" cy="45612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2700">
            <a:solidFill>
              <a:srgbClr val="6666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333333"/>
                </a:solidFill>
                <a:latin typeface="Calibri"/>
              </a:rPr>
              <a:t>Col B</a:t>
            </a:r>
            <a:br>
              <a:rPr sz="1000"/>
            </a:br>
            <a:r>
              <a:rPr b="0" lang="en-US" sz="1000" spc="-1" strike="noStrike">
                <a:solidFill>
                  <a:srgbClr val="333333"/>
                </a:solidFill>
                <a:latin typeface="Calibri"/>
              </a:rPr>
              <a:t>Chunk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Rounded Rectangle 25"/>
          <p:cNvSpPr/>
          <p:nvPr/>
        </p:nvSpPr>
        <p:spPr>
          <a:xfrm>
            <a:off x="5852160" y="5212080"/>
            <a:ext cx="1370520" cy="45612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2700">
            <a:solidFill>
              <a:srgbClr val="6666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333333"/>
                </a:solidFill>
                <a:latin typeface="Calibri"/>
              </a:rPr>
              <a:t>Col C</a:t>
            </a:r>
            <a:br>
              <a:rPr sz="1000"/>
            </a:br>
            <a:r>
              <a:rPr b="0" lang="en-US" sz="1000" spc="-1" strike="noStrike">
                <a:solidFill>
                  <a:srgbClr val="333333"/>
                </a:solidFill>
                <a:latin typeface="Calibri"/>
              </a:rPr>
              <a:t>Chunk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Rectangle 1"/>
          <p:cNvSpPr/>
          <p:nvPr/>
        </p:nvSpPr>
        <p:spPr>
          <a:xfrm>
            <a:off x="0" y="0"/>
            <a:ext cx="12190680" cy="13608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6" name="Rectangle 2"/>
          <p:cNvSpPr/>
          <p:nvPr/>
        </p:nvSpPr>
        <p:spPr>
          <a:xfrm>
            <a:off x="0" y="0"/>
            <a:ext cx="53640" cy="685692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7" name="Rectangle 3"/>
          <p:cNvSpPr/>
          <p:nvPr/>
        </p:nvSpPr>
        <p:spPr>
          <a:xfrm>
            <a:off x="0" y="6784920"/>
            <a:ext cx="12190680" cy="7200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8" name="TextBox 4"/>
          <p:cNvSpPr/>
          <p:nvPr/>
        </p:nvSpPr>
        <p:spPr>
          <a:xfrm>
            <a:off x="731520" y="365760"/>
            <a:ext cx="106974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333333"/>
                </a:solidFill>
                <a:latin typeface="Calibri"/>
              </a:rPr>
              <a:t>Enriquiment amb NLP — Amazon Comprehend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Rounded Rectangle 5"/>
          <p:cNvSpPr/>
          <p:nvPr/>
        </p:nvSpPr>
        <p:spPr>
          <a:xfrm>
            <a:off x="609480" y="2011680"/>
            <a:ext cx="2010600" cy="1461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0" name="TextBox 6"/>
          <p:cNvSpPr/>
          <p:nvPr/>
        </p:nvSpPr>
        <p:spPr>
          <a:xfrm>
            <a:off x="700920" y="2148840"/>
            <a:ext cx="18277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333333"/>
                </a:solidFill>
                <a:latin typeface="Calibri"/>
              </a:rPr>
              <a:t>Text Cru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Box 7"/>
          <p:cNvSpPr/>
          <p:nvPr/>
        </p:nvSpPr>
        <p:spPr>
          <a:xfrm>
            <a:off x="700920" y="2651760"/>
            <a:ext cx="182772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666666"/>
                </a:solidFill>
                <a:latin typeface="Calibri"/>
              </a:rPr>
              <a:t>Posts</a:t>
            </a:r>
            <a:br>
              <a:rPr sz="1100"/>
            </a:br>
            <a:r>
              <a:rPr b="0" lang="en-US" sz="1100" spc="-1" strike="noStrike">
                <a:solidFill>
                  <a:srgbClr val="666666"/>
                </a:solidFill>
                <a:latin typeface="Calibri"/>
              </a:rPr>
              <a:t>Bluesky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Right Arrow 8"/>
          <p:cNvSpPr/>
          <p:nvPr/>
        </p:nvSpPr>
        <p:spPr>
          <a:xfrm>
            <a:off x="2639520" y="2606040"/>
            <a:ext cx="181800" cy="273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3" name="Rounded Rectangle 9"/>
          <p:cNvSpPr/>
          <p:nvPr/>
        </p:nvSpPr>
        <p:spPr>
          <a:xfrm>
            <a:off x="2849760" y="2011680"/>
            <a:ext cx="2010600" cy="1461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4" name="TextBox 10"/>
          <p:cNvSpPr/>
          <p:nvPr/>
        </p:nvSpPr>
        <p:spPr>
          <a:xfrm>
            <a:off x="2941200" y="2148840"/>
            <a:ext cx="18277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333333"/>
                </a:solidFill>
                <a:latin typeface="Calibri"/>
              </a:rPr>
              <a:t>mapPartitions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Box 11"/>
          <p:cNvSpPr/>
          <p:nvPr/>
        </p:nvSpPr>
        <p:spPr>
          <a:xfrm>
            <a:off x="2941200" y="2651760"/>
            <a:ext cx="182772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666666"/>
                </a:solidFill>
                <a:latin typeface="Calibri"/>
              </a:rPr>
              <a:t>Agrupació per</a:t>
            </a:r>
            <a:br>
              <a:rPr sz="1100"/>
            </a:br>
            <a:r>
              <a:rPr b="0" lang="en-US" sz="1100" spc="-1" strike="noStrike">
                <a:solidFill>
                  <a:srgbClr val="666666"/>
                </a:solidFill>
                <a:latin typeface="Calibri"/>
              </a:rPr>
              <a:t>node de còmput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Right Arrow 12"/>
          <p:cNvSpPr/>
          <p:nvPr/>
        </p:nvSpPr>
        <p:spPr>
          <a:xfrm>
            <a:off x="4879800" y="2606040"/>
            <a:ext cx="181800" cy="273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7" name="Rounded Rectangle 13"/>
          <p:cNvSpPr/>
          <p:nvPr/>
        </p:nvSpPr>
        <p:spPr>
          <a:xfrm>
            <a:off x="5090040" y="2011680"/>
            <a:ext cx="2010600" cy="1461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8" name="TextBox 14"/>
          <p:cNvSpPr/>
          <p:nvPr/>
        </p:nvSpPr>
        <p:spPr>
          <a:xfrm>
            <a:off x="5181480" y="2148840"/>
            <a:ext cx="18277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333333"/>
                </a:solidFill>
                <a:latin typeface="Calibri"/>
              </a:rPr>
              <a:t>Batch 25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Box 15"/>
          <p:cNvSpPr/>
          <p:nvPr/>
        </p:nvSpPr>
        <p:spPr>
          <a:xfrm>
            <a:off x="5181480" y="2651760"/>
            <a:ext cx="182772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666666"/>
                </a:solidFill>
                <a:latin typeface="Calibri"/>
              </a:rPr>
              <a:t>Batch de 25 documents</a:t>
            </a:r>
            <a:br>
              <a:rPr sz="1100"/>
            </a:br>
            <a:r>
              <a:rPr b="0" lang="en-US" sz="1100" spc="-1" strike="noStrike">
                <a:solidFill>
                  <a:srgbClr val="666666"/>
                </a:solidFill>
                <a:latin typeface="Calibri"/>
              </a:rPr>
              <a:t>per cridar l’API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Right Arrow 16"/>
          <p:cNvSpPr/>
          <p:nvPr/>
        </p:nvSpPr>
        <p:spPr>
          <a:xfrm>
            <a:off x="7120080" y="2606040"/>
            <a:ext cx="181800" cy="273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1" name="Rounded Rectangle 17"/>
          <p:cNvSpPr/>
          <p:nvPr/>
        </p:nvSpPr>
        <p:spPr>
          <a:xfrm>
            <a:off x="7330320" y="2011680"/>
            <a:ext cx="2010600" cy="1461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00">
            <a:solidFill>
              <a:srgbClr val="ff99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2" name="TextBox 18"/>
          <p:cNvSpPr/>
          <p:nvPr/>
        </p:nvSpPr>
        <p:spPr>
          <a:xfrm>
            <a:off x="7421760" y="2148840"/>
            <a:ext cx="18277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9900"/>
                </a:solidFill>
                <a:latin typeface="Calibri"/>
              </a:rPr>
              <a:t>Comprehend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Box 19"/>
          <p:cNvSpPr/>
          <p:nvPr/>
        </p:nvSpPr>
        <p:spPr>
          <a:xfrm>
            <a:off x="7421760" y="2651760"/>
            <a:ext cx="182772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666666"/>
                </a:solidFill>
                <a:latin typeface="Calibri"/>
              </a:rPr>
              <a:t>Amazon Comprehend</a:t>
            </a:r>
            <a:br>
              <a:rPr sz="1100"/>
            </a:br>
            <a:r>
              <a:rPr b="0" lang="en-US" sz="1100" spc="-1" strike="noStrike">
                <a:solidFill>
                  <a:srgbClr val="666666"/>
                </a:solidFill>
                <a:latin typeface="Calibri"/>
              </a:rPr>
              <a:t>Anàlisi de sentiment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Right Arrow 20"/>
          <p:cNvSpPr/>
          <p:nvPr/>
        </p:nvSpPr>
        <p:spPr>
          <a:xfrm>
            <a:off x="9360360" y="2606040"/>
            <a:ext cx="181800" cy="273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5" name="Rounded Rectangle 21"/>
          <p:cNvSpPr/>
          <p:nvPr/>
        </p:nvSpPr>
        <p:spPr>
          <a:xfrm>
            <a:off x="9570600" y="2011680"/>
            <a:ext cx="2010600" cy="1461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6" name="TextBox 22"/>
          <p:cNvSpPr/>
          <p:nvPr/>
        </p:nvSpPr>
        <p:spPr>
          <a:xfrm>
            <a:off x="9662040" y="2148840"/>
            <a:ext cx="18277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333333"/>
                </a:solidFill>
                <a:latin typeface="Calibri"/>
              </a:rPr>
              <a:t>Gold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Box 23"/>
          <p:cNvSpPr/>
          <p:nvPr/>
        </p:nvSpPr>
        <p:spPr>
          <a:xfrm>
            <a:off x="9662040" y="2651760"/>
            <a:ext cx="1827720" cy="76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666666"/>
                </a:solidFill>
                <a:latin typeface="Calibri"/>
              </a:rPr>
              <a:t>Sentiment: POSITIVE, NEGATIVE, NEUTRAL, MIXED  I el seu score ([0,1])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Box 24"/>
          <p:cNvSpPr/>
          <p:nvPr/>
        </p:nvSpPr>
        <p:spPr>
          <a:xfrm>
            <a:off x="731520" y="3840480"/>
            <a:ext cx="10697400" cy="20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333333"/>
                </a:solidFill>
                <a:latin typeface="Calibri"/>
              </a:rPr>
              <a:t>Optimització Clau: mapPartitions + Broadcast Variables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666666"/>
                </a:solidFill>
                <a:latin typeface="Calibri"/>
              </a:rPr>
              <a:t>▸  </a:t>
            </a:r>
            <a:r>
              <a:rPr b="0" lang="en-US" sz="1500" spc="-1" strike="noStrike">
                <a:solidFill>
                  <a:srgbClr val="666666"/>
                </a:solidFill>
                <a:latin typeface="Calibri"/>
              </a:rPr>
              <a:t>No cridem a comprehend fila per fila (lent) — sinó per lots de 25 documents per node de còmput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500" spc="-1" strike="noStrike">
                <a:solidFill>
                  <a:srgbClr val="666666"/>
                </a:solidFill>
                <a:latin typeface="Calibri"/>
              </a:rPr>
              <a:t>▸  </a:t>
            </a:r>
            <a:r>
              <a:rPr b="0" lang="en-US" sz="1500" spc="-1" strike="noStrike">
                <a:solidFill>
                  <a:srgbClr val="666666"/>
                </a:solidFill>
                <a:latin typeface="Calibri"/>
              </a:rPr>
              <a:t>Broadcast Variables: la configuració del client Comprehend es comparteix entre tots els workers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500" spc="-1" strike="noStrike">
                <a:solidFill>
                  <a:srgbClr val="666666"/>
                </a:solidFill>
                <a:latin typeface="Calibri"/>
              </a:rPr>
              <a:t>▸  </a:t>
            </a:r>
            <a:r>
              <a:rPr b="0" lang="en-US" sz="1500" spc="-1" strike="noStrike">
                <a:solidFill>
                  <a:srgbClr val="666666"/>
                </a:solidFill>
                <a:latin typeface="Calibri"/>
              </a:rPr>
              <a:t>Reducció de crides API: de N (1 per fila) a N/25 — estalvi de cost i latència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en-US" sz="1500" spc="-1" strike="noStrike">
                <a:solidFill>
                  <a:srgbClr val="666666"/>
                </a:solidFill>
                <a:latin typeface="Calibri"/>
              </a:rPr>
              <a:t>▸  </a:t>
            </a:r>
            <a:r>
              <a:rPr b="0" lang="en-US" sz="1500" spc="-1" strike="noStrike">
                <a:solidFill>
                  <a:srgbClr val="666666"/>
                </a:solidFill>
                <a:latin typeface="Calibri"/>
              </a:rPr>
              <a:t>Coalesce(1). Fusionem els arxius generats pels workers, Athena és més eficient amb pocs arxius de fins a 1GB que </a:t>
            </a:r>
            <a:r>
              <a:rPr b="0" lang="en-US" sz="1500" spc="-1" strike="noStrike">
                <a:solidFill>
                  <a:srgbClr val="666666"/>
                </a:solidFill>
                <a:latin typeface="Calibri"/>
              </a:rPr>
              <a:t>	</a:t>
            </a:r>
            <a:r>
              <a:rPr b="0" lang="en-US" sz="1500" spc="-1" strike="noStrike">
                <a:solidFill>
                  <a:srgbClr val="666666"/>
                </a:solidFill>
                <a:latin typeface="Calibri"/>
              </a:rPr>
              <a:t>     amb molts arxius petits (kb).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Rectangle 1"/>
          <p:cNvSpPr/>
          <p:nvPr/>
        </p:nvSpPr>
        <p:spPr>
          <a:xfrm>
            <a:off x="0" y="0"/>
            <a:ext cx="12190680" cy="13608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0" name="Rectangle 2"/>
          <p:cNvSpPr/>
          <p:nvPr/>
        </p:nvSpPr>
        <p:spPr>
          <a:xfrm>
            <a:off x="0" y="0"/>
            <a:ext cx="53640" cy="685692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1" name="Rectangle 3"/>
          <p:cNvSpPr/>
          <p:nvPr/>
        </p:nvSpPr>
        <p:spPr>
          <a:xfrm>
            <a:off x="0" y="6784920"/>
            <a:ext cx="12190680" cy="7200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2" name="TextBox 4"/>
          <p:cNvSpPr/>
          <p:nvPr/>
        </p:nvSpPr>
        <p:spPr>
          <a:xfrm>
            <a:off x="731520" y="365760"/>
            <a:ext cx="106974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333333"/>
                </a:solidFill>
                <a:latin typeface="Calibri"/>
              </a:rPr>
              <a:t>Modelatge de Grafs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Rounded Rectangle 5"/>
          <p:cNvSpPr/>
          <p:nvPr/>
        </p:nvSpPr>
        <p:spPr>
          <a:xfrm>
            <a:off x="8336160" y="1649880"/>
            <a:ext cx="3473640" cy="21020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270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4" name="Rectangle 6"/>
          <p:cNvSpPr/>
          <p:nvPr/>
        </p:nvSpPr>
        <p:spPr>
          <a:xfrm>
            <a:off x="8336160" y="1630080"/>
            <a:ext cx="3473640" cy="5364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5" name="TextBox 7"/>
          <p:cNvSpPr/>
          <p:nvPr/>
        </p:nvSpPr>
        <p:spPr>
          <a:xfrm>
            <a:off x="8473320" y="1814400"/>
            <a:ext cx="31993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333333"/>
                </a:solidFill>
                <a:latin typeface="Calibri"/>
              </a:rPr>
              <a:t>De JSON aniuat a Grafs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Box 8"/>
          <p:cNvSpPr/>
          <p:nvPr/>
        </p:nvSpPr>
        <p:spPr>
          <a:xfrm>
            <a:off x="8473320" y="2442960"/>
            <a:ext cx="31993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Transformem dades no estructurades</a:t>
            </a:r>
            <a:br>
              <a:rPr sz="1200"/>
            </a:b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en relacions:</a:t>
            </a:r>
            <a:br>
              <a:rPr sz="1200"/>
            </a:b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Usuari → Post → Moneda → Preu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Rounded Rectangle 9"/>
          <p:cNvSpPr/>
          <p:nvPr/>
        </p:nvSpPr>
        <p:spPr>
          <a:xfrm>
            <a:off x="4572000" y="1649880"/>
            <a:ext cx="3473640" cy="21020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270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8" name="Rectangle 10"/>
          <p:cNvSpPr/>
          <p:nvPr/>
        </p:nvSpPr>
        <p:spPr>
          <a:xfrm>
            <a:off x="4572000" y="1630080"/>
            <a:ext cx="3473640" cy="5364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9" name="TextBox 11"/>
          <p:cNvSpPr/>
          <p:nvPr/>
        </p:nvSpPr>
        <p:spPr>
          <a:xfrm>
            <a:off x="4709160" y="1814400"/>
            <a:ext cx="31993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333333"/>
                </a:solidFill>
                <a:latin typeface="Calibri"/>
              </a:rPr>
              <a:t>Nodes i Arestes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TextBox 12"/>
          <p:cNvSpPr/>
          <p:nvPr/>
        </p:nvSpPr>
        <p:spPr>
          <a:xfrm>
            <a:off x="4709160" y="2442960"/>
            <a:ext cx="319932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Nodes: author, post, coin</a:t>
            </a:r>
            <a:br>
              <a:rPr sz="1200"/>
            </a:b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Arestes: POSTED_BY, MENTIONS,</a:t>
            </a:r>
            <a:br>
              <a:rPr sz="1200"/>
            </a:b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HAS_PRICE</a:t>
            </a:r>
            <a:br>
              <a:rPr sz="1200"/>
            </a:b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START_ID → END_ID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Rounded Rectangle 13"/>
          <p:cNvSpPr/>
          <p:nvPr/>
        </p:nvSpPr>
        <p:spPr>
          <a:xfrm>
            <a:off x="631080" y="1649880"/>
            <a:ext cx="3016440" cy="21020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270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2" name="Rectangle 14"/>
          <p:cNvSpPr/>
          <p:nvPr/>
        </p:nvSpPr>
        <p:spPr>
          <a:xfrm>
            <a:off x="631080" y="1630080"/>
            <a:ext cx="3016440" cy="5364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3" name="TextBox 15"/>
          <p:cNvSpPr/>
          <p:nvPr/>
        </p:nvSpPr>
        <p:spPr>
          <a:xfrm>
            <a:off x="776160" y="1850400"/>
            <a:ext cx="27421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333333"/>
                </a:solidFill>
                <a:latin typeface="Calibri"/>
              </a:rPr>
              <a:t>Per què Grafs?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TextBox 16"/>
          <p:cNvSpPr/>
          <p:nvPr/>
        </p:nvSpPr>
        <p:spPr>
          <a:xfrm>
            <a:off x="768240" y="2442960"/>
            <a:ext cx="274212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Anàlisi d'influència</a:t>
            </a:r>
            <a:br>
              <a:rPr sz="1200"/>
            </a:b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Detecció de tendències</a:t>
            </a:r>
            <a:br>
              <a:rPr sz="1200"/>
            </a:b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Relacions latents</a:t>
            </a:r>
            <a:br>
              <a:rPr sz="1200"/>
            </a:b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Xarxes socials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Box 17"/>
          <p:cNvSpPr/>
          <p:nvPr/>
        </p:nvSpPr>
        <p:spPr>
          <a:xfrm>
            <a:off x="1418040" y="1198800"/>
            <a:ext cx="93243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ff9900"/>
                </a:solidFill>
                <a:latin typeface="Courier New"/>
              </a:rPr>
              <a:t>Esquema: (author)-[:POSTED_BY]-&gt;(post)-[:MENTIONS]-&gt;(coin)-[:HAS_PRICE]-&gt;(price)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"/>
          <p:cNvSpPr/>
          <p:nvPr/>
        </p:nvSpPr>
        <p:spPr>
          <a:xfrm>
            <a:off x="1244520" y="4662720"/>
            <a:ext cx="1981440" cy="104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Dashboard grafs grafana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Rectangle 1"/>
          <p:cNvSpPr/>
          <p:nvPr/>
        </p:nvSpPr>
        <p:spPr>
          <a:xfrm>
            <a:off x="0" y="0"/>
            <a:ext cx="12190680" cy="13608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8" name="Rectangle 2"/>
          <p:cNvSpPr/>
          <p:nvPr/>
        </p:nvSpPr>
        <p:spPr>
          <a:xfrm>
            <a:off x="0" y="0"/>
            <a:ext cx="53640" cy="685692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9" name="Rectangle 3"/>
          <p:cNvSpPr/>
          <p:nvPr/>
        </p:nvSpPr>
        <p:spPr>
          <a:xfrm>
            <a:off x="0" y="6784920"/>
            <a:ext cx="12190680" cy="7200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0" name="TextBox 4"/>
          <p:cNvSpPr/>
          <p:nvPr/>
        </p:nvSpPr>
        <p:spPr>
          <a:xfrm>
            <a:off x="731520" y="365760"/>
            <a:ext cx="106974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333333"/>
                </a:solidFill>
                <a:latin typeface="Calibri"/>
              </a:rPr>
              <a:t>Validació de Qualitat — DQDL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Box 6"/>
          <p:cNvSpPr/>
          <p:nvPr/>
        </p:nvSpPr>
        <p:spPr>
          <a:xfrm>
            <a:off x="4638240" y="1280160"/>
            <a:ext cx="297540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333333"/>
                </a:solidFill>
                <a:latin typeface="Calibri"/>
              </a:rPr>
              <a:t>Resultats i Validació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Rounded Rectangle 7"/>
          <p:cNvSpPr/>
          <p:nvPr/>
        </p:nvSpPr>
        <p:spPr>
          <a:xfrm>
            <a:off x="731520" y="2286000"/>
            <a:ext cx="5028120" cy="228492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270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3" name="Rectangle 8"/>
          <p:cNvSpPr/>
          <p:nvPr/>
        </p:nvSpPr>
        <p:spPr>
          <a:xfrm>
            <a:off x="731520" y="2286000"/>
            <a:ext cx="5028120" cy="5364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4" name="TextBox 9"/>
          <p:cNvSpPr/>
          <p:nvPr/>
        </p:nvSpPr>
        <p:spPr>
          <a:xfrm>
            <a:off x="868680" y="2468880"/>
            <a:ext cx="47538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333333"/>
                </a:solidFill>
                <a:latin typeface="Calibri"/>
              </a:rPr>
              <a:t>AWS Glue Data Quality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Box 10"/>
          <p:cNvSpPr/>
          <p:nvPr/>
        </p:nvSpPr>
        <p:spPr>
          <a:xfrm>
            <a:off x="868680" y="2926080"/>
            <a:ext cx="475380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Regles automàtiques sobre el catàleg</a:t>
            </a:r>
            <a:br>
              <a:rPr sz="1200"/>
            </a:b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Validació sense codi</a:t>
            </a:r>
            <a:br>
              <a:rPr sz="1200"/>
            </a:b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Alertes en temps real</a:t>
            </a:r>
            <a:br>
              <a:rPr sz="1200"/>
            </a:b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Fail-Fast: si la dada és dolenta,</a:t>
            </a:r>
            <a:br>
              <a:rPr sz="1200"/>
            </a:b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el pipeline s'atura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Rounded Rectangle 11"/>
          <p:cNvSpPr/>
          <p:nvPr/>
        </p:nvSpPr>
        <p:spPr>
          <a:xfrm>
            <a:off x="6217920" y="2286000"/>
            <a:ext cx="5028120" cy="228492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270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7" name="Rectangle 12"/>
          <p:cNvSpPr/>
          <p:nvPr/>
        </p:nvSpPr>
        <p:spPr>
          <a:xfrm>
            <a:off x="6217920" y="2286000"/>
            <a:ext cx="5028120" cy="5364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8" name="TextBox 13"/>
          <p:cNvSpPr/>
          <p:nvPr/>
        </p:nvSpPr>
        <p:spPr>
          <a:xfrm>
            <a:off x="6355080" y="2468880"/>
            <a:ext cx="47538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333333"/>
                </a:solidFill>
                <a:latin typeface="Calibri"/>
              </a:rPr>
              <a:t>Regles de Qualitat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TextBox 14"/>
          <p:cNvSpPr/>
          <p:nvPr/>
        </p:nvSpPr>
        <p:spPr>
          <a:xfrm>
            <a:off x="6355080" y="2926080"/>
            <a:ext cx="475380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price &gt;= 0 (el preu no pot ser negatiu)</a:t>
            </a:r>
            <a:br>
              <a:rPr sz="1200"/>
            </a:b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sentiment BETWEEN 0 AND 100</a:t>
            </a:r>
            <a:br>
              <a:rPr sz="1200"/>
            </a:b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author_handle IS NOT NULL</a:t>
            </a:r>
            <a:br>
              <a:rPr sz="1200"/>
            </a:b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created_at &lt; CURRENT_TIMESTAMP</a:t>
            </a:r>
            <a:br>
              <a:rPr sz="1200"/>
            </a:b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Completeness &gt; 95% per columna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Box 15"/>
          <p:cNvSpPr/>
          <p:nvPr/>
        </p:nvSpPr>
        <p:spPr>
          <a:xfrm>
            <a:off x="731520" y="5029200"/>
            <a:ext cx="106974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333333"/>
                </a:solidFill>
                <a:latin typeface="Courier New"/>
              </a:rPr>
              <a:t>Exemple DQDL:  Rules = [ ColumnExists "price", ColumnDataType "price" "double", CustomRule "price &gt;= 0" ]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Rectangle 1"/>
          <p:cNvSpPr/>
          <p:nvPr/>
        </p:nvSpPr>
        <p:spPr>
          <a:xfrm>
            <a:off x="0" y="0"/>
            <a:ext cx="12190680" cy="13608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2" name="Rectangle 2"/>
          <p:cNvSpPr/>
          <p:nvPr/>
        </p:nvSpPr>
        <p:spPr>
          <a:xfrm>
            <a:off x="0" y="0"/>
            <a:ext cx="53640" cy="685692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3" name="Rectangle 3"/>
          <p:cNvSpPr/>
          <p:nvPr/>
        </p:nvSpPr>
        <p:spPr>
          <a:xfrm>
            <a:off x="0" y="6784920"/>
            <a:ext cx="12190680" cy="7200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4" name="TextBox 4"/>
          <p:cNvSpPr/>
          <p:nvPr/>
        </p:nvSpPr>
        <p:spPr>
          <a:xfrm>
            <a:off x="731520" y="365760"/>
            <a:ext cx="106974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333333"/>
                </a:solidFill>
                <a:latin typeface="Calibri"/>
              </a:rPr>
              <a:t>Visualització i Alta Disponibilitat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Rounded Rectangle 5"/>
          <p:cNvSpPr/>
          <p:nvPr/>
        </p:nvSpPr>
        <p:spPr>
          <a:xfrm>
            <a:off x="731520" y="1645920"/>
            <a:ext cx="5028120" cy="201060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270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6" name="Rectangle 6"/>
          <p:cNvSpPr/>
          <p:nvPr/>
        </p:nvSpPr>
        <p:spPr>
          <a:xfrm>
            <a:off x="731520" y="1645920"/>
            <a:ext cx="5028120" cy="5364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7" name="TextBox 7"/>
          <p:cNvSpPr/>
          <p:nvPr/>
        </p:nvSpPr>
        <p:spPr>
          <a:xfrm>
            <a:off x="868680" y="1828800"/>
            <a:ext cx="47538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333333"/>
                </a:solidFill>
                <a:latin typeface="Calibri"/>
              </a:rPr>
              <a:t>Dashboard Grafana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TextBox 8"/>
          <p:cNvSpPr/>
          <p:nvPr/>
        </p:nvSpPr>
        <p:spPr>
          <a:xfrm>
            <a:off x="868680" y="2286000"/>
            <a:ext cx="475380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Correlació preu vs sentiment</a:t>
            </a:r>
            <a:br>
              <a:rPr sz="1200"/>
            </a:b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Sèries temporals</a:t>
            </a:r>
            <a:br>
              <a:rPr sz="1200"/>
            </a:b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Filtres per moneda i data</a:t>
            </a:r>
            <a:br>
              <a:rPr sz="1200"/>
            </a:b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Consultes SQL via Athena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Rounded Rectangle 9"/>
          <p:cNvSpPr/>
          <p:nvPr/>
        </p:nvSpPr>
        <p:spPr>
          <a:xfrm>
            <a:off x="6217920" y="1645920"/>
            <a:ext cx="5028120" cy="201060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270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0" name="Rectangle 10"/>
          <p:cNvSpPr/>
          <p:nvPr/>
        </p:nvSpPr>
        <p:spPr>
          <a:xfrm>
            <a:off x="6217920" y="1645920"/>
            <a:ext cx="5028120" cy="5364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1" name="TextBox 11"/>
          <p:cNvSpPr/>
          <p:nvPr/>
        </p:nvSpPr>
        <p:spPr>
          <a:xfrm>
            <a:off x="6355080" y="1828800"/>
            <a:ext cx="47538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333333"/>
                </a:solidFill>
                <a:latin typeface="Calibri"/>
              </a:rPr>
              <a:t>Alta Disponibilitat (Chaos Engineering)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TextBox 12"/>
          <p:cNvSpPr/>
          <p:nvPr/>
        </p:nvSpPr>
        <p:spPr>
          <a:xfrm>
            <a:off x="6355080" y="2286000"/>
            <a:ext cx="475380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Contenidor Grafana a ECS Fargate</a:t>
            </a:r>
            <a:br>
              <a:rPr sz="1200"/>
            </a:b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Volum EFS per a persistència</a:t>
            </a:r>
            <a:br>
              <a:rPr sz="1200"/>
            </a:b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Vam 'matar' el contenidor → es va</a:t>
            </a:r>
            <a:br>
              <a:rPr sz="1200"/>
            </a:b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reelevar en segons sense pèrdua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TextBox 13"/>
          <p:cNvSpPr/>
          <p:nvPr/>
        </p:nvSpPr>
        <p:spPr>
          <a:xfrm>
            <a:off x="3270240" y="3826800"/>
            <a:ext cx="56196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333333"/>
                </a:solidFill>
                <a:latin typeface="Calibri"/>
              </a:rPr>
              <a:t>Dashboard: Preu Bitcoin vs Sentiment Social (Bluesky)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Rectangle 1"/>
          <p:cNvSpPr/>
          <p:nvPr/>
        </p:nvSpPr>
        <p:spPr>
          <a:xfrm>
            <a:off x="0" y="0"/>
            <a:ext cx="12190680" cy="13608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5" name="Rectangle 2"/>
          <p:cNvSpPr/>
          <p:nvPr/>
        </p:nvSpPr>
        <p:spPr>
          <a:xfrm>
            <a:off x="0" y="0"/>
            <a:ext cx="53640" cy="685692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6" name="Rectangle 3"/>
          <p:cNvSpPr/>
          <p:nvPr/>
        </p:nvSpPr>
        <p:spPr>
          <a:xfrm>
            <a:off x="0" y="6784920"/>
            <a:ext cx="12190680" cy="7200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7" name="TextBox 4"/>
          <p:cNvSpPr/>
          <p:nvPr/>
        </p:nvSpPr>
        <p:spPr>
          <a:xfrm>
            <a:off x="731520" y="365760"/>
            <a:ext cx="106974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333333"/>
                </a:solidFill>
                <a:latin typeface="Calibri"/>
              </a:rPr>
              <a:t>Mètriques de Rendiment i Costos — FinOps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Box 5"/>
          <p:cNvSpPr/>
          <p:nvPr/>
        </p:nvSpPr>
        <p:spPr>
          <a:xfrm>
            <a:off x="511920" y="1645920"/>
            <a:ext cx="26330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ff9900"/>
                </a:solidFill>
                <a:latin typeface="Calibri"/>
              </a:rPr>
              <a:t>≈ </a:t>
            </a:r>
            <a:r>
              <a:rPr b="1" lang="en-US" sz="3200" spc="-1" strike="noStrike">
                <a:solidFill>
                  <a:srgbClr val="ff9900"/>
                </a:solidFill>
                <a:latin typeface="Calibri"/>
              </a:rPr>
              <a:t>11 minuts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Box 6"/>
          <p:cNvSpPr/>
          <p:nvPr/>
        </p:nvSpPr>
        <p:spPr>
          <a:xfrm>
            <a:off x="938520" y="2377440"/>
            <a:ext cx="17791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333333"/>
                </a:solidFill>
                <a:latin typeface="Calibri"/>
              </a:rPr>
              <a:t>Temps de Pipeline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TextBox 7"/>
          <p:cNvSpPr/>
          <p:nvPr/>
        </p:nvSpPr>
        <p:spPr>
          <a:xfrm>
            <a:off x="457200" y="2834640"/>
            <a:ext cx="27421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Batch complet</a:t>
            </a:r>
            <a:br>
              <a:rPr sz="1200"/>
            </a:b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Bluesky + CoinGecko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TextBox 8"/>
          <p:cNvSpPr/>
          <p:nvPr/>
        </p:nvSpPr>
        <p:spPr>
          <a:xfrm>
            <a:off x="3429360" y="1645920"/>
            <a:ext cx="26514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ff9900"/>
                </a:solidFill>
                <a:latin typeface="Calibri"/>
              </a:rPr>
              <a:t>≈ </a:t>
            </a:r>
            <a:r>
              <a:rPr b="1" lang="en-US" sz="3200" spc="-1" strike="noStrike">
                <a:solidFill>
                  <a:srgbClr val="ff9900"/>
                </a:solidFill>
                <a:latin typeface="Calibri"/>
              </a:rPr>
              <a:t>33 € / mes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TextBox 9"/>
          <p:cNvSpPr/>
          <p:nvPr/>
        </p:nvSpPr>
        <p:spPr>
          <a:xfrm>
            <a:off x="4064400" y="2377440"/>
            <a:ext cx="13798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333333"/>
                </a:solidFill>
                <a:latin typeface="Calibri"/>
              </a:rPr>
              <a:t>Cost en repòs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TextBox 10"/>
          <p:cNvSpPr/>
          <p:nvPr/>
        </p:nvSpPr>
        <p:spPr>
          <a:xfrm>
            <a:off x="3383280" y="2834640"/>
            <a:ext cx="2742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Còmput efímer Serverless</a:t>
            </a:r>
            <a:br>
              <a:rPr sz="1200"/>
            </a:b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S3 (emmagatzematge) I NAT Gateway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TextBox 11"/>
          <p:cNvSpPr/>
          <p:nvPr/>
        </p:nvSpPr>
        <p:spPr>
          <a:xfrm>
            <a:off x="6791040" y="1645920"/>
            <a:ext cx="177876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ff9900"/>
                </a:solidFill>
                <a:latin typeface="Calibri"/>
              </a:rPr>
              <a:t>≈ </a:t>
            </a:r>
            <a:r>
              <a:rPr b="1" lang="en-US" sz="3200" spc="-1" strike="noStrike">
                <a:solidFill>
                  <a:srgbClr val="ff9900"/>
                </a:solidFill>
                <a:latin typeface="Calibri"/>
              </a:rPr>
              <a:t>0.02 €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TextBox 12"/>
          <p:cNvSpPr/>
          <p:nvPr/>
        </p:nvSpPr>
        <p:spPr>
          <a:xfrm>
            <a:off x="6813720" y="2377440"/>
            <a:ext cx="17334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333333"/>
                </a:solidFill>
                <a:latin typeface="Calibri"/>
              </a:rPr>
              <a:t>Cost per execució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TextBox 13"/>
          <p:cNvSpPr/>
          <p:nvPr/>
        </p:nvSpPr>
        <p:spPr>
          <a:xfrm>
            <a:off x="6309360" y="2834640"/>
            <a:ext cx="27421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Lambda + Glue + Athena</a:t>
            </a:r>
            <a:br>
              <a:rPr sz="1200"/>
            </a:b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TextBox 14"/>
          <p:cNvSpPr/>
          <p:nvPr/>
        </p:nvSpPr>
        <p:spPr>
          <a:xfrm>
            <a:off x="9802440" y="1645920"/>
            <a:ext cx="160776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ff9900"/>
                </a:solidFill>
                <a:latin typeface="Calibri"/>
              </a:rPr>
              <a:t>70-80%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TextBox 15"/>
          <p:cNvSpPr/>
          <p:nvPr/>
        </p:nvSpPr>
        <p:spPr>
          <a:xfrm>
            <a:off x="9846360" y="2377440"/>
            <a:ext cx="1519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333333"/>
                </a:solidFill>
                <a:latin typeface="Calibri"/>
              </a:rPr>
              <a:t>Estalvi Parquet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TextBox 16"/>
          <p:cNvSpPr/>
          <p:nvPr/>
        </p:nvSpPr>
        <p:spPr>
          <a:xfrm>
            <a:off x="9235440" y="2834640"/>
            <a:ext cx="27421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666666"/>
                </a:solidFill>
                <a:latin typeface="Calibri"/>
              </a:rPr>
              <a:t>vs CSV en consultes Athena I emmagatzematge S3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TextBox 17"/>
          <p:cNvSpPr/>
          <p:nvPr/>
        </p:nvSpPr>
        <p:spPr>
          <a:xfrm>
            <a:off x="3803760" y="4206240"/>
            <a:ext cx="4552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333333"/>
                </a:solidFill>
                <a:latin typeface="Calibri"/>
              </a:rPr>
              <a:t>Comparativa: CSV vs Parquet a Athena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91" name="Table 18"/>
          <p:cNvGraphicFramePr/>
          <p:nvPr/>
        </p:nvGraphicFramePr>
        <p:xfrm>
          <a:off x="914400" y="4663440"/>
          <a:ext cx="10331640" cy="1462320"/>
        </p:xfrm>
        <a:graphic>
          <a:graphicData uri="http://schemas.openxmlformats.org/drawingml/2006/table">
            <a:tbl>
              <a:tblPr/>
              <a:tblGrid>
                <a:gridCol w="2066400"/>
                <a:gridCol w="2066400"/>
                <a:gridCol w="2066400"/>
                <a:gridCol w="2066400"/>
                <a:gridCol w="2066400"/>
              </a:tblGrid>
              <a:tr h="48744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Format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Mida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Dades escanejades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Cost per consulta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Temps</a:t>
                      </a:r>
                      <a:endParaRPr b="0" lang="es-E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33333"/>
                    </a:solidFill>
                  </a:tcPr>
                </a:tc>
              </a:tr>
              <a:tr h="48744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CSV</a:t>
                      </a:r>
                      <a:endParaRPr b="0" lang="es-E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2.1 GB</a:t>
                      </a:r>
                      <a:endParaRPr b="0" lang="es-E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2.1 GB</a:t>
                      </a:r>
                      <a:endParaRPr b="0" lang="es-E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0.0105 €</a:t>
                      </a:r>
                      <a:endParaRPr b="0" lang="es-E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12.7 s</a:t>
                      </a:r>
                      <a:endParaRPr b="0" lang="es-E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</a:tr>
              <a:tr h="48744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Parquet</a:t>
                      </a:r>
                      <a:endParaRPr b="0" lang="es-E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0e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0.42 GB</a:t>
                      </a:r>
                      <a:endParaRPr b="0" lang="es-E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0e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0.28 GB</a:t>
                      </a:r>
                      <a:endParaRPr b="0" lang="es-E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0e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b="0" lang="en-US" sz="13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0.0014 €</a:t>
                      </a:r>
                      <a:endParaRPr b="0" lang="es-E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0e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5.1 s</a:t>
                      </a:r>
                      <a:endParaRPr b="0" lang="es-E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0e0"/>
                    </a:solidFill>
                  </a:tcPr>
                </a:tc>
              </a:tr>
            </a:tbl>
          </a:graphicData>
        </a:graphic>
      </p:graphicFrame>
      <p:sp>
        <p:nvSpPr>
          <p:cNvPr id="292" name=""/>
          <p:cNvSpPr/>
          <p:nvPr/>
        </p:nvSpPr>
        <p:spPr>
          <a:xfrm>
            <a:off x="8895240" y="4029480"/>
            <a:ext cx="2795760" cy="60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Rectangle 1"/>
          <p:cNvSpPr/>
          <p:nvPr/>
        </p:nvSpPr>
        <p:spPr>
          <a:xfrm>
            <a:off x="0" y="0"/>
            <a:ext cx="12190680" cy="13608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4" name="Rectangle 2"/>
          <p:cNvSpPr/>
          <p:nvPr/>
        </p:nvSpPr>
        <p:spPr>
          <a:xfrm>
            <a:off x="0" y="0"/>
            <a:ext cx="53640" cy="685692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5" name="Rectangle 3"/>
          <p:cNvSpPr/>
          <p:nvPr/>
        </p:nvSpPr>
        <p:spPr>
          <a:xfrm>
            <a:off x="0" y="6784920"/>
            <a:ext cx="12190680" cy="7200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6" name="TextBox 4"/>
          <p:cNvSpPr/>
          <p:nvPr/>
        </p:nvSpPr>
        <p:spPr>
          <a:xfrm>
            <a:off x="731520" y="365760"/>
            <a:ext cx="106974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333333"/>
                </a:solidFill>
                <a:latin typeface="Calibri"/>
              </a:rPr>
              <a:t>Conclusions i Futur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TextBox 5"/>
          <p:cNvSpPr/>
          <p:nvPr/>
        </p:nvSpPr>
        <p:spPr>
          <a:xfrm>
            <a:off x="2247120" y="1463040"/>
            <a:ext cx="1996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9900"/>
                </a:solidFill>
                <a:latin typeface="Calibri"/>
              </a:rPr>
              <a:t>Conclusions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TextBox 6"/>
          <p:cNvSpPr/>
          <p:nvPr/>
        </p:nvSpPr>
        <p:spPr>
          <a:xfrm>
            <a:off x="731520" y="2011680"/>
            <a:ext cx="5028120" cy="156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Ingesta desacoblada de fonts heterogènies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Processament distribuït I NLP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Automatització I resiliència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Explotació visual I analítica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Governança I seguretat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TextBox 7"/>
          <p:cNvSpPr/>
          <p:nvPr/>
        </p:nvSpPr>
        <p:spPr>
          <a:xfrm>
            <a:off x="7847640" y="1463040"/>
            <a:ext cx="2134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9900"/>
                </a:solidFill>
                <a:latin typeface="Calibri"/>
              </a:rPr>
              <a:t>Treball Futur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TextBox 8"/>
          <p:cNvSpPr/>
          <p:nvPr/>
        </p:nvSpPr>
        <p:spPr>
          <a:xfrm>
            <a:off x="6400800" y="2011680"/>
            <a:ext cx="5028120" cy="21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De Batch a Streaming: AWS Kinesis per a anàlisi</a:t>
            </a:r>
            <a:br>
              <a:rPr sz="1400"/>
            </a:b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de sentiment en temps real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Models Predictius: Amazon SageMaker per a</a:t>
            </a:r>
            <a:br>
              <a:rPr sz="1400"/>
            </a:b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predicció de preus basada en sentiment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Ampliació de fonts: Twitter/X, Reddit,</a:t>
            </a:r>
            <a:br>
              <a:rPr sz="1400"/>
            </a:b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notícies financeres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Dashboard interactiu amb QuickSight i</a:t>
            </a:r>
            <a:br>
              <a:rPr sz="1400"/>
            </a:b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alertes automatitzades (SNS)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TextBox 38"/>
          <p:cNvSpPr/>
          <p:nvPr/>
        </p:nvSpPr>
        <p:spPr>
          <a:xfrm>
            <a:off x="2247120" y="1463040"/>
            <a:ext cx="1996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9900"/>
                </a:solidFill>
                <a:latin typeface="Calibri"/>
              </a:rPr>
              <a:t>Conclusions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TextBox 39"/>
          <p:cNvSpPr/>
          <p:nvPr/>
        </p:nvSpPr>
        <p:spPr>
          <a:xfrm>
            <a:off x="731520" y="2011680"/>
            <a:ext cx="5028120" cy="156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Ingesta desacoblada de fonts heterogènies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Processament distribuït I NLP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Automatització I resiliència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Explotació visual I analítica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Governança I seguretat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TextBox 40"/>
          <p:cNvSpPr/>
          <p:nvPr/>
        </p:nvSpPr>
        <p:spPr>
          <a:xfrm>
            <a:off x="2247120" y="1463040"/>
            <a:ext cx="1996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9900"/>
                </a:solidFill>
                <a:latin typeface="Calibri"/>
              </a:rPr>
              <a:t>Conclusions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TextBox 41"/>
          <p:cNvSpPr/>
          <p:nvPr/>
        </p:nvSpPr>
        <p:spPr>
          <a:xfrm>
            <a:off x="731520" y="2011680"/>
            <a:ext cx="5028120" cy="156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Ingesta desacoblada de fonts heterogènies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Processament distribuït I NLP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Automatització I resiliència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Explotació visual I analítica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Governança I seguretat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TextBox 42"/>
          <p:cNvSpPr/>
          <p:nvPr/>
        </p:nvSpPr>
        <p:spPr>
          <a:xfrm>
            <a:off x="2247120" y="1463040"/>
            <a:ext cx="1996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9900"/>
                </a:solidFill>
                <a:latin typeface="Calibri"/>
              </a:rPr>
              <a:t>Conclusions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TextBox 43"/>
          <p:cNvSpPr/>
          <p:nvPr/>
        </p:nvSpPr>
        <p:spPr>
          <a:xfrm>
            <a:off x="731520" y="2011680"/>
            <a:ext cx="5028120" cy="156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Ingesta desacoblada de fonts heterogènies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Processament distribuït I NLP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Automatització I resiliència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Explotació visual I analítica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Governança I seguretat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TextBox 44"/>
          <p:cNvSpPr/>
          <p:nvPr/>
        </p:nvSpPr>
        <p:spPr>
          <a:xfrm>
            <a:off x="2247120" y="1463040"/>
            <a:ext cx="1996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9900"/>
                </a:solidFill>
                <a:latin typeface="Calibri"/>
              </a:rPr>
              <a:t>Conclusions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TextBox 45"/>
          <p:cNvSpPr/>
          <p:nvPr/>
        </p:nvSpPr>
        <p:spPr>
          <a:xfrm>
            <a:off x="2247120" y="1463040"/>
            <a:ext cx="1996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9900"/>
                </a:solidFill>
                <a:latin typeface="Calibri"/>
              </a:rPr>
              <a:t>Conclusions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"/>
          <p:cNvSpPr/>
          <p:nvPr/>
        </p:nvSpPr>
        <p:spPr>
          <a:xfrm>
            <a:off x="2216160" y="3985200"/>
            <a:ext cx="1996560" cy="50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ff9900"/>
                </a:solidFill>
                <a:latin typeface="Calibri"/>
              </a:rPr>
              <a:t>Limitacions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"/>
          <p:cNvSpPr/>
          <p:nvPr/>
        </p:nvSpPr>
        <p:spPr>
          <a:xfrm>
            <a:off x="777600" y="4492800"/>
            <a:ext cx="3794760" cy="13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Restriccions de les APIs públiques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Latència temporal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Biaix en el model de llenguatge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Rectangle 7"/>
          <p:cNvSpPr/>
          <p:nvPr/>
        </p:nvSpPr>
        <p:spPr>
          <a:xfrm>
            <a:off x="0" y="0"/>
            <a:ext cx="12190680" cy="10872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2" name="Rectangle 9"/>
          <p:cNvSpPr/>
          <p:nvPr/>
        </p:nvSpPr>
        <p:spPr>
          <a:xfrm>
            <a:off x="0" y="6784920"/>
            <a:ext cx="12190680" cy="7200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3" name="Rectangle 11"/>
          <p:cNvSpPr/>
          <p:nvPr/>
        </p:nvSpPr>
        <p:spPr>
          <a:xfrm>
            <a:off x="0" y="0"/>
            <a:ext cx="456120" cy="685692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4" name="TextBox 46"/>
          <p:cNvSpPr/>
          <p:nvPr/>
        </p:nvSpPr>
        <p:spPr>
          <a:xfrm>
            <a:off x="914400" y="1371600"/>
            <a:ext cx="10057320" cy="12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800" spc="-1" strike="noStrike">
                <a:solidFill>
                  <a:srgbClr val="333333"/>
                </a:solidFill>
                <a:latin typeface="Calibri"/>
              </a:rPr>
              <a:t>Data Lakehouse Analític per </a:t>
            </a:r>
            <a:endParaRPr b="0" lang="es-ES" sz="3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3800" spc="-1" strike="noStrike">
                <a:solidFill>
                  <a:srgbClr val="333333"/>
                </a:solidFill>
                <a:latin typeface="Calibri"/>
              </a:rPr>
              <a:t>a Dades Obertes</a:t>
            </a:r>
            <a:endParaRPr b="0" lang="es-E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TextBox 47"/>
          <p:cNvSpPr/>
          <p:nvPr/>
        </p:nvSpPr>
        <p:spPr>
          <a:xfrm>
            <a:off x="878400" y="3358080"/>
            <a:ext cx="10057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ff9900"/>
                </a:solidFill>
                <a:latin typeface="Calibri"/>
              </a:rPr>
              <a:t>Infraestructura Serverless al Núvol amb AWS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TextBox 48"/>
          <p:cNvSpPr/>
          <p:nvPr/>
        </p:nvSpPr>
        <p:spPr>
          <a:xfrm>
            <a:off x="4856040" y="5943600"/>
            <a:ext cx="21693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300" spc="-1" strike="noStrike">
                <a:solidFill>
                  <a:srgbClr val="666666"/>
                </a:solidFill>
                <a:latin typeface="Calibri"/>
              </a:rPr>
              <a:t>TFG — Enginyeria de dades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TextBox 49"/>
          <p:cNvSpPr/>
          <p:nvPr/>
        </p:nvSpPr>
        <p:spPr>
          <a:xfrm>
            <a:off x="939600" y="4572000"/>
            <a:ext cx="54846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666666"/>
                </a:solidFill>
                <a:latin typeface="Calibri"/>
              </a:rPr>
              <a:t>Autor: Grau Cladera Sensat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TextBox 50"/>
          <p:cNvSpPr/>
          <p:nvPr/>
        </p:nvSpPr>
        <p:spPr>
          <a:xfrm>
            <a:off x="939600" y="4937760"/>
            <a:ext cx="54846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666666"/>
                </a:solidFill>
                <a:latin typeface="Calibri"/>
              </a:rPr>
              <a:t>Tutor: Esteve Alquézar Mora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TextBox 51"/>
          <p:cNvSpPr/>
          <p:nvPr/>
        </p:nvSpPr>
        <p:spPr>
          <a:xfrm>
            <a:off x="939600" y="5303520"/>
            <a:ext cx="54846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666666"/>
                </a:solidFill>
                <a:latin typeface="Calibri"/>
              </a:rPr>
              <a:t>Grau en Enginyeria de Dades · Curs 2025-2026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249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es-ES</dc:language>
  <cp:lastModifiedBy/>
  <cp:lastPrinted>2026-06-04T17:14:48Z</cp:lastPrinted>
  <dcterms:modified xsi:type="dcterms:W3CDTF">2026-06-10T00:04:54Z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